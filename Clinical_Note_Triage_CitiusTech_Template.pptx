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</p:sldIdLst>
  <p:sldSz cx="18288000" cy="10287000"/>
  <p:notesSz cx="6858000" cy="9144000"/>
  <p:embeddedFontLst>
    <p:embeddedFont>
      <p:font typeface="Merriweather Sans" panose="020F0502020204030204" pitchFamily="2" charset="0"/>
      <p:regular r:id="rId18"/>
    </p:embeddedFont>
    <p:embeddedFont>
      <p:font typeface="Merriweather Sans Bold" panose="020B0604020202020204" charset="0"/>
      <p:regular r:id="rId19"/>
    </p:embeddedFont>
    <p:embeddedFont>
      <p:font typeface="Monda" panose="020B0604020202020204" charset="0"/>
      <p:regular r:id="rId20"/>
    </p:embeddedFont>
    <p:embeddedFont>
      <p:font typeface="Monda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7" d="100"/>
          <a:sy n="27" d="100"/>
        </p:scale>
        <p:origin x="810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509883" y="7772137"/>
          <a:ext cx="6785474" cy="1828800"/>
        </p:xfrm>
        <a:graphic>
          <a:graphicData uri="http://schemas.openxmlformats.org/drawingml/2006/table">
            <a:tbl>
              <a:tblPr/>
              <a:tblGrid>
                <a:gridCol w="3392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2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ts val="2874"/>
                        </a:lnSpc>
                        <a:defRPr/>
                      </a:pPr>
                      <a:r>
                        <a:rPr lang="en-US" sz="2052" b="1">
                          <a:solidFill>
                            <a:srgbClr val="FFFFFF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Omkar Satardekar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4"/>
                        </a:lnSpc>
                        <a:defRPr/>
                      </a:pPr>
                      <a:r>
                        <a:rPr lang="en-US" sz="2052" b="1">
                          <a:solidFill>
                            <a:srgbClr val="FFFFFF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Riya Davis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ts val="2874"/>
                        </a:lnSpc>
                        <a:defRPr/>
                      </a:pPr>
                      <a:r>
                        <a:rPr lang="en-US" sz="2052" b="1">
                          <a:solidFill>
                            <a:srgbClr val="FFFFFF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Saurabh Singh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4"/>
                        </a:lnSpc>
                        <a:defRPr/>
                      </a:pPr>
                      <a:r>
                        <a:rPr lang="en-US" sz="2052" b="1">
                          <a:solidFill>
                            <a:srgbClr val="FFFFFF"/>
                          </a:solidFill>
                          <a:latin typeface="Monda Bold"/>
                          <a:ea typeface="Monda Bold"/>
                          <a:cs typeface="Monda Bold"/>
                          <a:sym typeface="Monda Bold"/>
                        </a:rPr>
                        <a:t>Shubham Sahu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C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821602" y="3865668"/>
            <a:ext cx="10162036" cy="155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rPr>
              <a:t>NLP-Based Urgency Classification for Urgent Care Intake Notes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6488" y="1558588"/>
            <a:ext cx="14595024" cy="20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8"/>
              </a:lnSpc>
            </a:pPr>
            <a:r>
              <a:rPr lang="en-US" sz="5920" b="1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CLINICAL NOTE TRIAGE PRIORITY — TF-IDF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1602" y="6032226"/>
            <a:ext cx="10162036" cy="564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rPr>
              <a:t>Gen AI Academy | CitiusTech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29000" y="6873122"/>
            <a:ext cx="2347240" cy="564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rPr>
              <a:t>Team</a:t>
            </a:r>
          </a:p>
        </p:txBody>
      </p:sp>
      <p:pic>
        <p:nvPicPr>
          <p:cNvPr id="11" name="Picture 10" descr="log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37360" y="7315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CitiusTech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9360" cy="10287000"/>
          </a:xfrm>
          <a:prstGeom prst="rect">
            <a:avLst/>
          </a:prstGeom>
        </p:spPr>
      </p:pic>
      <p:pic>
        <p:nvPicPr>
          <p:cNvPr id="3" name="Picture 2" descr="log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5895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39" y="75895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CitiusTech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CFE0FF"/>
                </a:solidFill>
                <a:latin typeface="Arial"/>
              </a:rPr>
              <a:t>From the triage problem to a deployed priority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731520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69480" y="905256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90525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85953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Problem Statement &amp;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16736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Why first-come, first-served triage falls short, and our NLP approach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901952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69480" y="2075688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207568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29968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8716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2,100 synthetic intake notes with realistic text variations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072384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269480" y="3246120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324612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ML Pipeline &amp;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5760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Three models and the 8-step cleaning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4242816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69480" y="4416552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80" y="44165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70831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Audit Trail &amp; TF-IDF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28031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Cleaned data, preprocessing audit and TF-IDF vectorizer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5413248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269480" y="5586984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9480" y="558698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41264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Model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998464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TF-IDF + Logistic Regression, Naive Bayes, and TF-IDF + Vitals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6583680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269480" y="6757416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69480" y="675741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711696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Evaluation &amp;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7168896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Held-out test performance and High-class recall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7754112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269480" y="7927848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69480" y="792784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7882128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Inference &amp;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833932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Inference pipeline, FastAPI backend and Streamlit UI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95160" y="8924544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269480" y="9098280"/>
            <a:ext cx="658368" cy="658368"/>
          </a:xfrm>
          <a:prstGeom prst="ellipse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69480" y="909828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905256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Conclusion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950976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478"/>
                </a:solidFill>
                <a:latin typeface="Arial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529903" y="733463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2698" y="3134914"/>
            <a:ext cx="14381894" cy="143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129" lvl="1" indent="-298565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Urgent care centers receive a large volume of free-text nurse intake notes with abbreviations, voice-to-text errors, repeated words, and other variations, making it difficult to quickly identify patients who need immediate attention.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2698" y="1913988"/>
            <a:ext cx="13847896" cy="94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129" lvl="1" indent="-298565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existing triage queue follows a first-come, first-served approach, which may not always prioritize patients based on the urgency of their condition.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29903" y="5342182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OUR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5098" y="6394689"/>
            <a:ext cx="14381894" cy="94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129" lvl="1" indent="-298565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We built an NLP-based system that reads the nurse intake note and classifies it into three priority levels: High, Medium, or Low.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5098" y="7612854"/>
            <a:ext cx="14381894" cy="143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129" lvl="1" indent="-298565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system uses TF-IDF along with patient vitals to help identify urgent cases and move them higher in the queue, while the final decision remains with the healthcare professional.</a:t>
            </a:r>
          </a:p>
        </p:txBody>
      </p:sp>
      <p:pic>
        <p:nvPicPr>
          <p:cNvPr id="15" name="Picture 14" descr="logo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724153" y="3326568"/>
            <a:ext cx="12743247" cy="3404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Clinical abbreviations — c/o, hx, w/o, SOB, N/V, yo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Voice-to-text fillers — um, uh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Repeated/stuttered words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Clinical spelling errors — e.g. anaphylaxsis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Fixed EHR boilerplate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Prior triage/leakage phrases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Numeric vital signs — BP, HR, Temperature, SpO₂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Typed and voice-to-text capture styles</a:t>
            </a:r>
          </a:p>
          <a:p>
            <a:pPr marL="929649" lvl="2" indent="-309883" algn="l">
              <a:lnSpc>
                <a:spcPts val="3014"/>
              </a:lnSpc>
              <a:buFont typeface="Arial"/>
              <a:buChar char="⚬"/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Notes of different lengths and writing styles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952820" y="3552825"/>
          <a:ext cx="5053303" cy="3648075"/>
        </p:xfrm>
        <a:graphic>
          <a:graphicData uri="http://schemas.openxmlformats.org/drawingml/2006/table">
            <a:tbl>
              <a:tblPr/>
              <a:tblGrid>
                <a:gridCol w="2597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6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367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Merriweather Sans Bold"/>
                          <a:ea typeface="Merriweather Sans Bold"/>
                          <a:cs typeface="Merriweather Sans Bold"/>
                          <a:sym typeface="Merriweather Sans Bold"/>
                        </a:rPr>
                        <a:t>Priority 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Merriweather Sans Bold"/>
                          <a:ea typeface="Merriweather Sans Bold"/>
                          <a:cs typeface="Merriweather Sans Bold"/>
                          <a:sym typeface="Merriweather Sans Bold"/>
                        </a:rPr>
                        <a:t>Records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00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🔴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00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🟠 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00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🟢 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449739" y="7886700"/>
            <a:ext cx="16957145" cy="1533100"/>
          </a:xfrm>
          <a:custGeom>
            <a:avLst/>
            <a:gdLst/>
            <a:ahLst/>
            <a:cxnLst/>
            <a:rect l="l" t="t" r="r" b="b"/>
            <a:pathLst>
              <a:path w="16957145" h="1533100">
                <a:moveTo>
                  <a:pt x="0" y="0"/>
                </a:moveTo>
                <a:lnTo>
                  <a:pt x="16957145" y="0"/>
                </a:lnTo>
                <a:lnTo>
                  <a:pt x="16957145" y="1533100"/>
                </a:lnTo>
                <a:lnTo>
                  <a:pt x="0" y="1533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49" r="-1958" b="-2049"/>
            </a:stretch>
          </a:blipFill>
        </p:spPr>
      </p:sp>
      <p:sp>
        <p:nvSpPr>
          <p:cNvPr id="9" name="Freeform 9"/>
          <p:cNvSpPr/>
          <p:nvPr/>
        </p:nvSpPr>
        <p:spPr>
          <a:xfrm rot="1930181">
            <a:off x="9270093" y="5121491"/>
            <a:ext cx="1203133" cy="2148452"/>
          </a:xfrm>
          <a:custGeom>
            <a:avLst/>
            <a:gdLst/>
            <a:ahLst/>
            <a:cxnLst/>
            <a:rect l="l" t="t" r="r" b="b"/>
            <a:pathLst>
              <a:path w="1203133" h="2148452">
                <a:moveTo>
                  <a:pt x="0" y="0"/>
                </a:moveTo>
                <a:lnTo>
                  <a:pt x="1203134" y="0"/>
                </a:lnTo>
                <a:lnTo>
                  <a:pt x="1203134" y="2148452"/>
                </a:lnTo>
                <a:lnTo>
                  <a:pt x="0" y="2148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29903" y="396299"/>
            <a:ext cx="11228195" cy="119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Dataset </a:t>
            </a:r>
          </a:p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(Synthetic Clinical Note Dataset)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698" y="2236898"/>
            <a:ext cx="14731228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517" lvl="1" indent="-290259" algn="l">
              <a:lnSpc>
                <a:spcPts val="3764"/>
              </a:lnSpc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dataset intentionally includes real-world text variations that the preprocessing pipeline must handle: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5211" y="2896689"/>
            <a:ext cx="4216416" cy="496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2954" b="1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Dataset Size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41628" y="7153275"/>
            <a:ext cx="8645426" cy="496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2954" b="1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Class distribution: Balanced — 33.3% each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44753" y="9534100"/>
            <a:ext cx="5630458" cy="37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1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label: Sample Raw Clinical Intake Notes</a:t>
            </a:r>
          </a:p>
        </p:txBody>
      </p:sp>
      <p:pic>
        <p:nvPicPr>
          <p:cNvPr id="17" name="Picture 16" descr="logo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167576" y="1316793"/>
            <a:ext cx="2472275" cy="741426"/>
            <a:chOff x="0" y="0"/>
            <a:chExt cx="508699" cy="1525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Raw Dataset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1976432" y="2399411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4" y="0"/>
                </a:lnTo>
                <a:lnTo>
                  <a:pt x="947754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14171" y="3005974"/>
            <a:ext cx="2472275" cy="741426"/>
            <a:chOff x="0" y="0"/>
            <a:chExt cx="508699" cy="1525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Data Cleaning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8060" y="3651960"/>
            <a:ext cx="2264498" cy="427493"/>
            <a:chOff x="0" y="0"/>
            <a:chExt cx="524436" cy="99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4436" cy="99003"/>
            </a:xfrm>
            <a:custGeom>
              <a:avLst/>
              <a:gdLst/>
              <a:ahLst/>
              <a:cxnLst/>
              <a:rect l="l" t="t" r="r" b="b"/>
              <a:pathLst>
                <a:path w="524436" h="99003">
                  <a:moveTo>
                    <a:pt x="49502" y="0"/>
                  </a:moveTo>
                  <a:lnTo>
                    <a:pt x="474934" y="0"/>
                  </a:lnTo>
                  <a:cubicBezTo>
                    <a:pt x="502273" y="0"/>
                    <a:pt x="524436" y="22163"/>
                    <a:pt x="524436" y="49502"/>
                  </a:cubicBezTo>
                  <a:lnTo>
                    <a:pt x="524436" y="49502"/>
                  </a:lnTo>
                  <a:cubicBezTo>
                    <a:pt x="524436" y="62630"/>
                    <a:pt x="519221" y="75221"/>
                    <a:pt x="509937" y="84504"/>
                  </a:cubicBezTo>
                  <a:cubicBezTo>
                    <a:pt x="500654" y="93788"/>
                    <a:pt x="488063" y="99003"/>
                    <a:pt x="474934" y="99003"/>
                  </a:cubicBezTo>
                  <a:lnTo>
                    <a:pt x="49502" y="99003"/>
                  </a:lnTo>
                  <a:cubicBezTo>
                    <a:pt x="22163" y="99003"/>
                    <a:pt x="0" y="76841"/>
                    <a:pt x="0" y="49502"/>
                  </a:cubicBezTo>
                  <a:lnTo>
                    <a:pt x="0" y="49502"/>
                  </a:lnTo>
                  <a:cubicBezTo>
                    <a:pt x="0" y="22163"/>
                    <a:pt x="22163" y="0"/>
                    <a:pt x="49502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24436" cy="12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8-Stage Preprocessing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155306"/>
            <a:ext cx="3108589" cy="741426"/>
            <a:chOff x="0" y="0"/>
            <a:chExt cx="639627" cy="1525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9627" cy="152557"/>
            </a:xfrm>
            <a:custGeom>
              <a:avLst/>
              <a:gdLst/>
              <a:ahLst/>
              <a:cxnLst/>
              <a:rect l="l" t="t" r="r" b="b"/>
              <a:pathLst>
                <a:path w="639627" h="152557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103914"/>
                  </a:lnTo>
                  <a:cubicBezTo>
                    <a:pt x="639627" y="130779"/>
                    <a:pt x="617849" y="152557"/>
                    <a:pt x="590985" y="152557"/>
                  </a:cubicBezTo>
                  <a:lnTo>
                    <a:pt x="48642" y="152557"/>
                  </a:lnTo>
                  <a:cubicBezTo>
                    <a:pt x="35742" y="152557"/>
                    <a:pt x="23369" y="147432"/>
                    <a:pt x="14247" y="138310"/>
                  </a:cubicBezTo>
                  <a:cubicBezTo>
                    <a:pt x="5125" y="129188"/>
                    <a:pt x="0" y="116815"/>
                    <a:pt x="0" y="103914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39627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TF-IDF Vectorization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00998" y="6979459"/>
            <a:ext cx="3472582" cy="2395089"/>
            <a:chOff x="0" y="0"/>
            <a:chExt cx="714523" cy="4928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4523" cy="492817"/>
            </a:xfrm>
            <a:custGeom>
              <a:avLst/>
              <a:gdLst/>
              <a:ahLst/>
              <a:cxnLst/>
              <a:rect l="l" t="t" r="r" b="b"/>
              <a:pathLst>
                <a:path w="714523" h="492817">
                  <a:moveTo>
                    <a:pt x="43544" y="0"/>
                  </a:moveTo>
                  <a:lnTo>
                    <a:pt x="670979" y="0"/>
                  </a:lnTo>
                  <a:cubicBezTo>
                    <a:pt x="695028" y="0"/>
                    <a:pt x="714523" y="19495"/>
                    <a:pt x="714523" y="43544"/>
                  </a:cubicBezTo>
                  <a:lnTo>
                    <a:pt x="714523" y="449273"/>
                  </a:lnTo>
                  <a:cubicBezTo>
                    <a:pt x="714523" y="473322"/>
                    <a:pt x="695028" y="492817"/>
                    <a:pt x="670979" y="492817"/>
                  </a:cubicBezTo>
                  <a:lnTo>
                    <a:pt x="43544" y="492817"/>
                  </a:lnTo>
                  <a:cubicBezTo>
                    <a:pt x="19495" y="492817"/>
                    <a:pt x="0" y="473322"/>
                    <a:pt x="0" y="449273"/>
                  </a:cubicBezTo>
                  <a:lnTo>
                    <a:pt x="0" y="43544"/>
                  </a:lnTo>
                  <a:cubicBezTo>
                    <a:pt x="0" y="19495"/>
                    <a:pt x="19495" y="0"/>
                    <a:pt x="43544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14523" cy="521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4"/>
                </a:lnSpc>
              </a:pPr>
              <a:r>
                <a:rPr lang="en-US" sz="18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 Model Development</a:t>
              </a:r>
            </a:p>
            <a:p>
              <a:pPr algn="ctr">
                <a:lnSpc>
                  <a:spcPts val="2874"/>
                </a:lnSpc>
              </a:pPr>
              <a:endParaRPr lang="en-US" sz="1852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endParaRPr>
            </a:p>
            <a:p>
              <a:pPr algn="l">
                <a:lnSpc>
                  <a:spcPts val="2034"/>
                </a:lnSpc>
              </a:pPr>
              <a:r>
                <a:rPr lang="en-US" sz="14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1. TF-IDF → Logistic Regression</a:t>
              </a:r>
            </a:p>
            <a:p>
              <a:pPr algn="l">
                <a:lnSpc>
                  <a:spcPts val="2034"/>
                </a:lnSpc>
              </a:pPr>
              <a:endParaRPr lang="en-US" sz="1452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endParaRPr>
            </a:p>
            <a:p>
              <a:pPr algn="l">
                <a:lnSpc>
                  <a:spcPts val="2034"/>
                </a:lnSpc>
              </a:pPr>
              <a:r>
                <a:rPr lang="en-US" sz="14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2. TF-IDF → Multinomial Naive Bayes</a:t>
              </a:r>
            </a:p>
            <a:p>
              <a:pPr algn="l">
                <a:lnSpc>
                  <a:spcPts val="2034"/>
                </a:lnSpc>
              </a:pPr>
              <a:endParaRPr lang="en-US" sz="1452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endParaRPr>
            </a:p>
            <a:p>
              <a:pPr algn="l">
                <a:lnSpc>
                  <a:spcPts val="2034"/>
                </a:lnSpc>
              </a:pPr>
              <a:r>
                <a:rPr lang="en-US" sz="14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3. TF-IDF + Vitals → Logistic Regression 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rot="5400000">
            <a:off x="1976432" y="4420644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4" y="0"/>
                </a:lnTo>
                <a:lnTo>
                  <a:pt x="947754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4041998">
            <a:off x="2242370" y="6240934"/>
            <a:ext cx="904572" cy="253280"/>
          </a:xfrm>
          <a:custGeom>
            <a:avLst/>
            <a:gdLst/>
            <a:ahLst/>
            <a:cxnLst/>
            <a:rect l="l" t="t" r="r" b="b"/>
            <a:pathLst>
              <a:path w="904572" h="253280">
                <a:moveTo>
                  <a:pt x="0" y="0"/>
                </a:moveTo>
                <a:lnTo>
                  <a:pt x="904571" y="0"/>
                </a:lnTo>
                <a:lnTo>
                  <a:pt x="904571" y="253280"/>
                </a:lnTo>
                <a:lnTo>
                  <a:pt x="0" y="253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1042199">
            <a:off x="5885364" y="8758643"/>
            <a:ext cx="1108652" cy="310423"/>
          </a:xfrm>
          <a:custGeom>
            <a:avLst/>
            <a:gdLst/>
            <a:ahLst/>
            <a:cxnLst/>
            <a:rect l="l" t="t" r="r" b="b"/>
            <a:pathLst>
              <a:path w="1108652" h="310423">
                <a:moveTo>
                  <a:pt x="0" y="0"/>
                </a:moveTo>
                <a:lnTo>
                  <a:pt x="1108652" y="0"/>
                </a:lnTo>
                <a:lnTo>
                  <a:pt x="1108652" y="310423"/>
                </a:lnTo>
                <a:lnTo>
                  <a:pt x="0" y="31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7081749" y="8856764"/>
            <a:ext cx="3108589" cy="741426"/>
            <a:chOff x="0" y="0"/>
            <a:chExt cx="639627" cy="1525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9627" cy="152557"/>
            </a:xfrm>
            <a:custGeom>
              <a:avLst/>
              <a:gdLst/>
              <a:ahLst/>
              <a:cxnLst/>
              <a:rect l="l" t="t" r="r" b="b"/>
              <a:pathLst>
                <a:path w="639627" h="152557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103914"/>
                  </a:lnTo>
                  <a:cubicBezTo>
                    <a:pt x="639627" y="130779"/>
                    <a:pt x="617849" y="152557"/>
                    <a:pt x="590985" y="152557"/>
                  </a:cubicBezTo>
                  <a:lnTo>
                    <a:pt x="48642" y="152557"/>
                  </a:lnTo>
                  <a:cubicBezTo>
                    <a:pt x="35742" y="152557"/>
                    <a:pt x="23369" y="147432"/>
                    <a:pt x="14247" y="138310"/>
                  </a:cubicBezTo>
                  <a:cubicBezTo>
                    <a:pt x="5125" y="129188"/>
                    <a:pt x="0" y="116815"/>
                    <a:pt x="0" y="103914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39627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Model Evaluation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271442" y="8722191"/>
            <a:ext cx="2472275" cy="955474"/>
            <a:chOff x="0" y="0"/>
            <a:chExt cx="508699" cy="196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699" cy="196600"/>
            </a:xfrm>
            <a:custGeom>
              <a:avLst/>
              <a:gdLst/>
              <a:ahLst/>
              <a:cxnLst/>
              <a:rect l="l" t="t" r="r" b="b"/>
              <a:pathLst>
                <a:path w="508699" h="196600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135438"/>
                  </a:lnTo>
                  <a:cubicBezTo>
                    <a:pt x="508699" y="169216"/>
                    <a:pt x="481315" y="196600"/>
                    <a:pt x="447537" y="196600"/>
                  </a:cubicBezTo>
                  <a:lnTo>
                    <a:pt x="61162" y="196600"/>
                  </a:lnTo>
                  <a:cubicBezTo>
                    <a:pt x="27383" y="196600"/>
                    <a:pt x="0" y="169216"/>
                    <a:pt x="0" y="135438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508699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Save Trained models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257013" y="9067243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4" y="0"/>
                </a:lnTo>
                <a:lnTo>
                  <a:pt x="947754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2919275" y="9570641"/>
            <a:ext cx="930082" cy="427493"/>
            <a:chOff x="0" y="0"/>
            <a:chExt cx="215398" cy="9900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398" cy="99003"/>
            </a:xfrm>
            <a:custGeom>
              <a:avLst/>
              <a:gdLst/>
              <a:ahLst/>
              <a:cxnLst/>
              <a:rect l="l" t="t" r="r" b="b"/>
              <a:pathLst>
                <a:path w="215398" h="99003">
                  <a:moveTo>
                    <a:pt x="49502" y="0"/>
                  </a:moveTo>
                  <a:lnTo>
                    <a:pt x="165896" y="0"/>
                  </a:lnTo>
                  <a:cubicBezTo>
                    <a:pt x="193235" y="0"/>
                    <a:pt x="215398" y="22163"/>
                    <a:pt x="215398" y="49502"/>
                  </a:cubicBezTo>
                  <a:lnTo>
                    <a:pt x="215398" y="49502"/>
                  </a:lnTo>
                  <a:cubicBezTo>
                    <a:pt x="215398" y="62630"/>
                    <a:pt x="210183" y="75221"/>
                    <a:pt x="200899" y="84504"/>
                  </a:cubicBezTo>
                  <a:cubicBezTo>
                    <a:pt x="191616" y="93788"/>
                    <a:pt x="179025" y="99003"/>
                    <a:pt x="165896" y="99003"/>
                  </a:cubicBezTo>
                  <a:lnTo>
                    <a:pt x="49502" y="99003"/>
                  </a:lnTo>
                  <a:cubicBezTo>
                    <a:pt x="22163" y="99003"/>
                    <a:pt x="0" y="76841"/>
                    <a:pt x="0" y="49502"/>
                  </a:cubicBezTo>
                  <a:lnTo>
                    <a:pt x="0" y="49502"/>
                  </a:lnTo>
                  <a:cubicBezTo>
                    <a:pt x="0" y="22163"/>
                    <a:pt x="22163" y="0"/>
                    <a:pt x="49502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215398" cy="12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( .pkl 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957454" y="8829215"/>
            <a:ext cx="2472275" cy="741426"/>
            <a:chOff x="0" y="0"/>
            <a:chExt cx="508699" cy="15255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Inference</a:t>
              </a:r>
            </a:p>
          </p:txBody>
        </p:sp>
      </p:grpSp>
      <p:sp>
        <p:nvSpPr>
          <p:cNvPr id="36" name="Freeform 36"/>
          <p:cNvSpPr/>
          <p:nvPr/>
        </p:nvSpPr>
        <p:spPr>
          <a:xfrm>
            <a:off x="13876349" y="9094791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5" y="0"/>
                </a:lnTo>
                <a:lnTo>
                  <a:pt x="947755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5600059" y="2230216"/>
            <a:ext cx="3108589" cy="3241474"/>
            <a:chOff x="0" y="0"/>
            <a:chExt cx="639627" cy="6669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39627" cy="666970"/>
            </a:xfrm>
            <a:custGeom>
              <a:avLst/>
              <a:gdLst/>
              <a:ahLst/>
              <a:cxnLst/>
              <a:rect l="l" t="t" r="r" b="b"/>
              <a:pathLst>
                <a:path w="639627" h="666970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618328"/>
                  </a:lnTo>
                  <a:cubicBezTo>
                    <a:pt x="639627" y="645192"/>
                    <a:pt x="617849" y="666970"/>
                    <a:pt x="590985" y="666970"/>
                  </a:cubicBezTo>
                  <a:lnTo>
                    <a:pt x="48642" y="666970"/>
                  </a:lnTo>
                  <a:cubicBezTo>
                    <a:pt x="21778" y="666970"/>
                    <a:pt x="0" y="645192"/>
                    <a:pt x="0" y="618328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639627" cy="714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Cleaned Text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TF-IDF Features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Logistic Regression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High / Medium / Low + Class Probabilities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47613" y="3170709"/>
            <a:ext cx="3108589" cy="3622474"/>
            <a:chOff x="0" y="0"/>
            <a:chExt cx="639627" cy="74536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9627" cy="745365"/>
            </a:xfrm>
            <a:custGeom>
              <a:avLst/>
              <a:gdLst/>
              <a:ahLst/>
              <a:cxnLst/>
              <a:rect l="l" t="t" r="r" b="b"/>
              <a:pathLst>
                <a:path w="639627" h="745365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696723"/>
                  </a:lnTo>
                  <a:cubicBezTo>
                    <a:pt x="639627" y="723587"/>
                    <a:pt x="617849" y="745365"/>
                    <a:pt x="590985" y="745365"/>
                  </a:cubicBezTo>
                  <a:lnTo>
                    <a:pt x="48642" y="745365"/>
                  </a:lnTo>
                  <a:cubicBezTo>
                    <a:pt x="35742" y="745365"/>
                    <a:pt x="23369" y="740240"/>
                    <a:pt x="14247" y="731118"/>
                  </a:cubicBezTo>
                  <a:cubicBezTo>
                    <a:pt x="5125" y="721996"/>
                    <a:pt x="0" y="709623"/>
                    <a:pt x="0" y="696723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639627" cy="792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Cleaned Text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TF-IDF Features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Multinomial Naive Bayes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 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High / Medium / Low + Class Probabilities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722847" y="4221277"/>
            <a:ext cx="3706882" cy="3740780"/>
            <a:chOff x="0" y="0"/>
            <a:chExt cx="762733" cy="7697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62733" cy="769708"/>
            </a:xfrm>
            <a:custGeom>
              <a:avLst/>
              <a:gdLst/>
              <a:ahLst/>
              <a:cxnLst/>
              <a:rect l="l" t="t" r="r" b="b"/>
              <a:pathLst>
                <a:path w="762733" h="769708">
                  <a:moveTo>
                    <a:pt x="40792" y="0"/>
                  </a:moveTo>
                  <a:lnTo>
                    <a:pt x="721941" y="0"/>
                  </a:lnTo>
                  <a:cubicBezTo>
                    <a:pt x="732760" y="0"/>
                    <a:pt x="743135" y="4298"/>
                    <a:pt x="750785" y="11948"/>
                  </a:cubicBezTo>
                  <a:cubicBezTo>
                    <a:pt x="758435" y="19597"/>
                    <a:pt x="762733" y="29973"/>
                    <a:pt x="762733" y="40792"/>
                  </a:cubicBezTo>
                  <a:lnTo>
                    <a:pt x="762733" y="728916"/>
                  </a:lnTo>
                  <a:cubicBezTo>
                    <a:pt x="762733" y="739735"/>
                    <a:pt x="758435" y="750110"/>
                    <a:pt x="750785" y="757760"/>
                  </a:cubicBezTo>
                  <a:cubicBezTo>
                    <a:pt x="743135" y="765410"/>
                    <a:pt x="732760" y="769708"/>
                    <a:pt x="721941" y="769708"/>
                  </a:cubicBezTo>
                  <a:lnTo>
                    <a:pt x="40792" y="769708"/>
                  </a:lnTo>
                  <a:cubicBezTo>
                    <a:pt x="29973" y="769708"/>
                    <a:pt x="19597" y="765410"/>
                    <a:pt x="11948" y="757760"/>
                  </a:cubicBezTo>
                  <a:cubicBezTo>
                    <a:pt x="4298" y="750110"/>
                    <a:pt x="0" y="739735"/>
                    <a:pt x="0" y="728916"/>
                  </a:cubicBezTo>
                  <a:lnTo>
                    <a:pt x="0" y="40792"/>
                  </a:lnTo>
                  <a:cubicBezTo>
                    <a:pt x="0" y="29973"/>
                    <a:pt x="4298" y="19597"/>
                    <a:pt x="11948" y="11948"/>
                  </a:cubicBezTo>
                  <a:cubicBezTo>
                    <a:pt x="19597" y="4298"/>
                    <a:pt x="29973" y="0"/>
                    <a:pt x="4079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762733" cy="817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 Cleaned Note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</a:t>
              </a:r>
            </a:p>
            <a:p>
              <a:pPr marL="464825" lvl="1" indent="-232413" algn="l">
                <a:lnSpc>
                  <a:spcPts val="3014"/>
                </a:lnSpc>
                <a:buFont typeface="Arial"/>
                <a:buChar char="•"/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TF-IDF Features </a:t>
              </a:r>
            </a:p>
            <a:p>
              <a:pPr marL="464825" lvl="1" indent="-232413" algn="l">
                <a:lnSpc>
                  <a:spcPts val="3014"/>
                </a:lnSpc>
                <a:buFont typeface="Arial"/>
                <a:buChar char="•"/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Extracted Vitals (Imputation + Scaling)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                        ↓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Logistic Regression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↓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 High / Medium / Low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164706" y="1548375"/>
            <a:ext cx="3979294" cy="741426"/>
            <a:chOff x="0" y="0"/>
            <a:chExt cx="818785" cy="15255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8785" cy="152557"/>
            </a:xfrm>
            <a:custGeom>
              <a:avLst/>
              <a:gdLst/>
              <a:ahLst/>
              <a:cxnLst/>
              <a:rect l="l" t="t" r="r" b="b"/>
              <a:pathLst>
                <a:path w="818785" h="152557">
                  <a:moveTo>
                    <a:pt x="37999" y="0"/>
                  </a:moveTo>
                  <a:lnTo>
                    <a:pt x="780786" y="0"/>
                  </a:lnTo>
                  <a:cubicBezTo>
                    <a:pt x="801772" y="0"/>
                    <a:pt x="818785" y="17013"/>
                    <a:pt x="818785" y="37999"/>
                  </a:cubicBezTo>
                  <a:lnTo>
                    <a:pt x="818785" y="114558"/>
                  </a:lnTo>
                  <a:cubicBezTo>
                    <a:pt x="818785" y="124636"/>
                    <a:pt x="814781" y="134301"/>
                    <a:pt x="807655" y="141427"/>
                  </a:cubicBezTo>
                  <a:cubicBezTo>
                    <a:pt x="800529" y="148553"/>
                    <a:pt x="790864" y="152557"/>
                    <a:pt x="780786" y="152557"/>
                  </a:cubicBezTo>
                  <a:lnTo>
                    <a:pt x="37999" y="152557"/>
                  </a:lnTo>
                  <a:cubicBezTo>
                    <a:pt x="27921" y="152557"/>
                    <a:pt x="18256" y="148553"/>
                    <a:pt x="11130" y="141427"/>
                  </a:cubicBezTo>
                  <a:cubicBezTo>
                    <a:pt x="4003" y="134301"/>
                    <a:pt x="0" y="124636"/>
                    <a:pt x="0" y="114558"/>
                  </a:cubicBezTo>
                  <a:lnTo>
                    <a:pt x="0" y="37999"/>
                  </a:lnTo>
                  <a:cubicBezTo>
                    <a:pt x="0" y="27921"/>
                    <a:pt x="4003" y="18256"/>
                    <a:pt x="11130" y="11130"/>
                  </a:cubicBezTo>
                  <a:cubicBezTo>
                    <a:pt x="18256" y="4003"/>
                    <a:pt x="27921" y="0"/>
                    <a:pt x="37999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818785" cy="190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14"/>
                </a:lnSpc>
              </a:pPr>
              <a:r>
                <a:rPr lang="en-US" sz="1652" dirty="0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Model 1 — TF-IDF + Logistic Regression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050646" y="2446237"/>
            <a:ext cx="4102521" cy="741426"/>
            <a:chOff x="0" y="0"/>
            <a:chExt cx="844140" cy="15255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44140" cy="152557"/>
            </a:xfrm>
            <a:custGeom>
              <a:avLst/>
              <a:gdLst/>
              <a:ahLst/>
              <a:cxnLst/>
              <a:rect l="l" t="t" r="r" b="b"/>
              <a:pathLst>
                <a:path w="844140" h="152557">
                  <a:moveTo>
                    <a:pt x="36858" y="0"/>
                  </a:moveTo>
                  <a:lnTo>
                    <a:pt x="807283" y="0"/>
                  </a:lnTo>
                  <a:cubicBezTo>
                    <a:pt x="827639" y="0"/>
                    <a:pt x="844140" y="16502"/>
                    <a:pt x="844140" y="36858"/>
                  </a:cubicBezTo>
                  <a:lnTo>
                    <a:pt x="844140" y="115699"/>
                  </a:lnTo>
                  <a:cubicBezTo>
                    <a:pt x="844140" y="136055"/>
                    <a:pt x="827639" y="152557"/>
                    <a:pt x="807283" y="152557"/>
                  </a:cubicBezTo>
                  <a:lnTo>
                    <a:pt x="36858" y="152557"/>
                  </a:lnTo>
                  <a:cubicBezTo>
                    <a:pt x="27082" y="152557"/>
                    <a:pt x="17708" y="148674"/>
                    <a:pt x="10795" y="141761"/>
                  </a:cubicBezTo>
                  <a:cubicBezTo>
                    <a:pt x="3883" y="134849"/>
                    <a:pt x="0" y="125474"/>
                    <a:pt x="0" y="115699"/>
                  </a:cubicBezTo>
                  <a:lnTo>
                    <a:pt x="0" y="36858"/>
                  </a:lnTo>
                  <a:cubicBezTo>
                    <a:pt x="0" y="16502"/>
                    <a:pt x="16502" y="0"/>
                    <a:pt x="36858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844140" cy="190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 dirty="0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Model 2 — TF-IDF + Multinomial Naive Bayes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153167" y="3397109"/>
            <a:ext cx="4503025" cy="813807"/>
            <a:chOff x="0" y="0"/>
            <a:chExt cx="844140" cy="15255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44140" cy="152557"/>
            </a:xfrm>
            <a:custGeom>
              <a:avLst/>
              <a:gdLst/>
              <a:ahLst/>
              <a:cxnLst/>
              <a:rect l="l" t="t" r="r" b="b"/>
              <a:pathLst>
                <a:path w="844140" h="152557">
                  <a:moveTo>
                    <a:pt x="33580" y="0"/>
                  </a:moveTo>
                  <a:lnTo>
                    <a:pt x="810561" y="0"/>
                  </a:lnTo>
                  <a:cubicBezTo>
                    <a:pt x="829106" y="0"/>
                    <a:pt x="844140" y="15034"/>
                    <a:pt x="844140" y="33580"/>
                  </a:cubicBezTo>
                  <a:lnTo>
                    <a:pt x="844140" y="118977"/>
                  </a:lnTo>
                  <a:cubicBezTo>
                    <a:pt x="844140" y="137523"/>
                    <a:pt x="829106" y="152557"/>
                    <a:pt x="810561" y="152557"/>
                  </a:cubicBezTo>
                  <a:lnTo>
                    <a:pt x="33580" y="152557"/>
                  </a:lnTo>
                  <a:cubicBezTo>
                    <a:pt x="15034" y="152557"/>
                    <a:pt x="0" y="137523"/>
                    <a:pt x="0" y="118977"/>
                  </a:cubicBezTo>
                  <a:lnTo>
                    <a:pt x="0" y="33580"/>
                  </a:lnTo>
                  <a:cubicBezTo>
                    <a:pt x="0" y="15034"/>
                    <a:pt x="15034" y="0"/>
                    <a:pt x="33580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844140" cy="190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Model 3 — TF-IDF + Vitals + Logistic Regression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3529903" y="396299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Clinical Note Triage — ML Pipeline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582994" y="4319015"/>
            <a:ext cx="1724930" cy="34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9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Cleaned data</a:t>
            </a:r>
          </a:p>
        </p:txBody>
      </p:sp>
      <p:pic>
        <p:nvPicPr>
          <p:cNvPr id="59" name="Picture 58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25139" y="182274"/>
            <a:ext cx="11228195" cy="119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Preprocessing</a:t>
            </a:r>
          </a:p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(Cleaning the Clinical Note)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594" y="1713777"/>
            <a:ext cx="5279090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1: Boilerplate Removal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9919" y="2267425"/>
            <a:ext cx="7930032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Removes the fixed EHR sentence from the beginning of the note using an anchored regex.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594" y="3657016"/>
            <a:ext cx="5279090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2: Abbreviation Expansion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9919" y="4210664"/>
            <a:ext cx="8082088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Converts clinical shorthand such as c/o, hx, SOB, N/V into standard terms before vectorization.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594" y="5600255"/>
            <a:ext cx="5279090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3: Vital Extraction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9919" y="6153903"/>
            <a:ext cx="8268256" cy="1408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Extracts BP, HR, Temperature and SpO₂ into structured fields and removes the raw numeric values from the text.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594" y="7730502"/>
            <a:ext cx="5279090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4: Leakage Removal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9919" y="8284150"/>
            <a:ext cx="8082088" cy="1408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Removes previous triage or priority statements so the model does not learn the answer directly from the note.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843407" y="1935794"/>
            <a:ext cx="5294671" cy="1023489"/>
            <a:chOff x="0" y="0"/>
            <a:chExt cx="1089439" cy="210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9439" cy="210595"/>
            </a:xfrm>
            <a:custGeom>
              <a:avLst/>
              <a:gdLst/>
              <a:ahLst/>
              <a:cxnLst/>
              <a:rect l="l" t="t" r="r" b="b"/>
              <a:pathLst>
                <a:path w="1089439" h="210595">
                  <a:moveTo>
                    <a:pt x="28559" y="0"/>
                  </a:moveTo>
                  <a:lnTo>
                    <a:pt x="1060880" y="0"/>
                  </a:lnTo>
                  <a:cubicBezTo>
                    <a:pt x="1068454" y="0"/>
                    <a:pt x="1075718" y="3009"/>
                    <a:pt x="1081074" y="8365"/>
                  </a:cubicBezTo>
                  <a:cubicBezTo>
                    <a:pt x="1086430" y="13720"/>
                    <a:pt x="1089439" y="20985"/>
                    <a:pt x="1089439" y="28559"/>
                  </a:cubicBezTo>
                  <a:lnTo>
                    <a:pt x="1089439" y="182036"/>
                  </a:lnTo>
                  <a:cubicBezTo>
                    <a:pt x="1089439" y="189610"/>
                    <a:pt x="1086430" y="196874"/>
                    <a:pt x="1081074" y="202230"/>
                  </a:cubicBezTo>
                  <a:cubicBezTo>
                    <a:pt x="1075718" y="207586"/>
                    <a:pt x="1068454" y="210595"/>
                    <a:pt x="1060880" y="210595"/>
                  </a:cubicBezTo>
                  <a:lnTo>
                    <a:pt x="28559" y="210595"/>
                  </a:lnTo>
                  <a:cubicBezTo>
                    <a:pt x="20985" y="210595"/>
                    <a:pt x="13720" y="207586"/>
                    <a:pt x="8365" y="202230"/>
                  </a:cubicBezTo>
                  <a:cubicBezTo>
                    <a:pt x="3009" y="196874"/>
                    <a:pt x="0" y="189610"/>
                    <a:pt x="0" y="182036"/>
                  </a:cubicBezTo>
                  <a:lnTo>
                    <a:pt x="0" y="28559"/>
                  </a:lnTo>
                  <a:cubicBezTo>
                    <a:pt x="0" y="20985"/>
                    <a:pt x="3009" y="13720"/>
                    <a:pt x="8365" y="8365"/>
                  </a:cubicBezTo>
                  <a:cubicBezTo>
                    <a:pt x="13720" y="3009"/>
                    <a:pt x="20985" y="0"/>
                    <a:pt x="28559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89439" cy="248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Patient presents to urgent care with the following complaint: pt c/o SOB. Vitals: BP 84/42, HR 136, SpO2 86%.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322132" y="1323144"/>
            <a:ext cx="1972383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Raw data</a:t>
            </a:r>
          </a:p>
        </p:txBody>
      </p:sp>
      <p:sp>
        <p:nvSpPr>
          <p:cNvPr id="18" name="Freeform 18"/>
          <p:cNvSpPr/>
          <p:nvPr/>
        </p:nvSpPr>
        <p:spPr>
          <a:xfrm rot="5400000">
            <a:off x="14031461" y="3236146"/>
            <a:ext cx="769063" cy="215338"/>
          </a:xfrm>
          <a:custGeom>
            <a:avLst/>
            <a:gdLst/>
            <a:ahLst/>
            <a:cxnLst/>
            <a:rect l="l" t="t" r="r" b="b"/>
            <a:pathLst>
              <a:path w="769063" h="215338">
                <a:moveTo>
                  <a:pt x="0" y="0"/>
                </a:moveTo>
                <a:lnTo>
                  <a:pt x="769063" y="0"/>
                </a:lnTo>
                <a:lnTo>
                  <a:pt x="769063" y="215338"/>
                </a:lnTo>
                <a:lnTo>
                  <a:pt x="0" y="21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843407" y="3764065"/>
            <a:ext cx="5294671" cy="690599"/>
            <a:chOff x="0" y="0"/>
            <a:chExt cx="1089439" cy="1420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9439" cy="142099"/>
            </a:xfrm>
            <a:custGeom>
              <a:avLst/>
              <a:gdLst/>
              <a:ahLst/>
              <a:cxnLst/>
              <a:rect l="l" t="t" r="r" b="b"/>
              <a:pathLst>
                <a:path w="1089439" h="142099">
                  <a:moveTo>
                    <a:pt x="28559" y="0"/>
                  </a:moveTo>
                  <a:lnTo>
                    <a:pt x="1060880" y="0"/>
                  </a:lnTo>
                  <a:cubicBezTo>
                    <a:pt x="1068454" y="0"/>
                    <a:pt x="1075718" y="3009"/>
                    <a:pt x="1081074" y="8365"/>
                  </a:cubicBezTo>
                  <a:cubicBezTo>
                    <a:pt x="1086430" y="13720"/>
                    <a:pt x="1089439" y="20985"/>
                    <a:pt x="1089439" y="28559"/>
                  </a:cubicBezTo>
                  <a:lnTo>
                    <a:pt x="1089439" y="113540"/>
                  </a:lnTo>
                  <a:cubicBezTo>
                    <a:pt x="1089439" y="121114"/>
                    <a:pt x="1086430" y="128378"/>
                    <a:pt x="1081074" y="133734"/>
                  </a:cubicBezTo>
                  <a:cubicBezTo>
                    <a:pt x="1075718" y="139090"/>
                    <a:pt x="1068454" y="142099"/>
                    <a:pt x="1060880" y="142099"/>
                  </a:cubicBezTo>
                  <a:lnTo>
                    <a:pt x="28559" y="142099"/>
                  </a:lnTo>
                  <a:cubicBezTo>
                    <a:pt x="20985" y="142099"/>
                    <a:pt x="13720" y="139090"/>
                    <a:pt x="8365" y="133734"/>
                  </a:cubicBezTo>
                  <a:cubicBezTo>
                    <a:pt x="3009" y="128378"/>
                    <a:pt x="0" y="121114"/>
                    <a:pt x="0" y="113540"/>
                  </a:cubicBezTo>
                  <a:lnTo>
                    <a:pt x="0" y="28559"/>
                  </a:lnTo>
                  <a:cubicBezTo>
                    <a:pt x="0" y="20985"/>
                    <a:pt x="3009" y="13720"/>
                    <a:pt x="8365" y="8365"/>
                  </a:cubicBezTo>
                  <a:cubicBezTo>
                    <a:pt x="13720" y="3009"/>
                    <a:pt x="20985" y="0"/>
                    <a:pt x="28559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89439" cy="180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pt c/o SOB. Vitals: BP 84/42, HR 136, SpO2 86%.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 rot="5400000">
            <a:off x="14031461" y="4769626"/>
            <a:ext cx="769063" cy="215338"/>
          </a:xfrm>
          <a:custGeom>
            <a:avLst/>
            <a:gdLst/>
            <a:ahLst/>
            <a:cxnLst/>
            <a:rect l="l" t="t" r="r" b="b"/>
            <a:pathLst>
              <a:path w="769063" h="215338">
                <a:moveTo>
                  <a:pt x="0" y="0"/>
                </a:moveTo>
                <a:lnTo>
                  <a:pt x="769063" y="0"/>
                </a:lnTo>
                <a:lnTo>
                  <a:pt x="769063" y="215338"/>
                </a:lnTo>
                <a:lnTo>
                  <a:pt x="0" y="21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1876326" y="5395176"/>
            <a:ext cx="5294671" cy="737739"/>
            <a:chOff x="0" y="0"/>
            <a:chExt cx="1089439" cy="1517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89439" cy="151798"/>
            </a:xfrm>
            <a:custGeom>
              <a:avLst/>
              <a:gdLst/>
              <a:ahLst/>
              <a:cxnLst/>
              <a:rect l="l" t="t" r="r" b="b"/>
              <a:pathLst>
                <a:path w="1089439" h="151798">
                  <a:moveTo>
                    <a:pt x="28559" y="0"/>
                  </a:moveTo>
                  <a:lnTo>
                    <a:pt x="1060880" y="0"/>
                  </a:lnTo>
                  <a:cubicBezTo>
                    <a:pt x="1068454" y="0"/>
                    <a:pt x="1075718" y="3009"/>
                    <a:pt x="1081074" y="8365"/>
                  </a:cubicBezTo>
                  <a:cubicBezTo>
                    <a:pt x="1086430" y="13720"/>
                    <a:pt x="1089439" y="20985"/>
                    <a:pt x="1089439" y="28559"/>
                  </a:cubicBezTo>
                  <a:lnTo>
                    <a:pt x="1089439" y="123239"/>
                  </a:lnTo>
                  <a:cubicBezTo>
                    <a:pt x="1089439" y="130814"/>
                    <a:pt x="1086430" y="138078"/>
                    <a:pt x="1081074" y="143434"/>
                  </a:cubicBezTo>
                  <a:cubicBezTo>
                    <a:pt x="1075718" y="148789"/>
                    <a:pt x="1068454" y="151798"/>
                    <a:pt x="1060880" y="151798"/>
                  </a:cubicBezTo>
                  <a:lnTo>
                    <a:pt x="28559" y="151798"/>
                  </a:lnTo>
                  <a:cubicBezTo>
                    <a:pt x="20985" y="151798"/>
                    <a:pt x="13720" y="148789"/>
                    <a:pt x="8365" y="143434"/>
                  </a:cubicBezTo>
                  <a:cubicBezTo>
                    <a:pt x="3009" y="138078"/>
                    <a:pt x="0" y="130814"/>
                    <a:pt x="0" y="123239"/>
                  </a:cubicBezTo>
                  <a:lnTo>
                    <a:pt x="0" y="28559"/>
                  </a:lnTo>
                  <a:cubicBezTo>
                    <a:pt x="0" y="20985"/>
                    <a:pt x="3009" y="13720"/>
                    <a:pt x="8365" y="8365"/>
                  </a:cubicBezTo>
                  <a:cubicBezTo>
                    <a:pt x="13720" y="3009"/>
                    <a:pt x="20985" y="0"/>
                    <a:pt x="28559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89439" cy="189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patient complains of shortness of breath. Vitals: BP 84/42, HR 136, SpO2 86%.</a:t>
              </a:r>
            </a:p>
          </p:txBody>
        </p:sp>
      </p:grpSp>
      <p:sp>
        <p:nvSpPr>
          <p:cNvPr id="26" name="Freeform 26"/>
          <p:cNvSpPr/>
          <p:nvPr/>
        </p:nvSpPr>
        <p:spPr>
          <a:xfrm rot="5400000">
            <a:off x="12762405" y="6478391"/>
            <a:ext cx="769063" cy="215338"/>
          </a:xfrm>
          <a:custGeom>
            <a:avLst/>
            <a:gdLst/>
            <a:ahLst/>
            <a:cxnLst/>
            <a:rect l="l" t="t" r="r" b="b"/>
            <a:pathLst>
              <a:path w="769063" h="215338">
                <a:moveTo>
                  <a:pt x="0" y="0"/>
                </a:moveTo>
                <a:lnTo>
                  <a:pt x="769063" y="0"/>
                </a:lnTo>
                <a:lnTo>
                  <a:pt x="769063" y="215337"/>
                </a:lnTo>
                <a:lnTo>
                  <a:pt x="0" y="215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5400000">
            <a:off x="15783862" y="6478391"/>
            <a:ext cx="769063" cy="215338"/>
          </a:xfrm>
          <a:custGeom>
            <a:avLst/>
            <a:gdLst/>
            <a:ahLst/>
            <a:cxnLst/>
            <a:rect l="l" t="t" r="r" b="b"/>
            <a:pathLst>
              <a:path w="769063" h="215338">
                <a:moveTo>
                  <a:pt x="0" y="0"/>
                </a:moveTo>
                <a:lnTo>
                  <a:pt x="769063" y="0"/>
                </a:lnTo>
                <a:lnTo>
                  <a:pt x="769063" y="215337"/>
                </a:lnTo>
                <a:lnTo>
                  <a:pt x="0" y="215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2018467" y="7096339"/>
            <a:ext cx="2472275" cy="1336474"/>
            <a:chOff x="0" y="0"/>
            <a:chExt cx="508699" cy="27499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8699" cy="274995"/>
            </a:xfrm>
            <a:custGeom>
              <a:avLst/>
              <a:gdLst/>
              <a:ahLst/>
              <a:cxnLst/>
              <a:rect l="l" t="t" r="r" b="b"/>
              <a:pathLst>
                <a:path w="508699" h="274995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213833"/>
                  </a:lnTo>
                  <a:cubicBezTo>
                    <a:pt x="508699" y="247612"/>
                    <a:pt x="481315" y="274995"/>
                    <a:pt x="447537" y="274995"/>
                  </a:cubicBezTo>
                  <a:lnTo>
                    <a:pt x="61162" y="274995"/>
                  </a:lnTo>
                  <a:cubicBezTo>
                    <a:pt x="27383" y="274995"/>
                    <a:pt x="0" y="247612"/>
                    <a:pt x="0" y="213833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508699" cy="322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patient complains of shortness of breath.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039925" y="7020139"/>
            <a:ext cx="2472275" cy="1336474"/>
            <a:chOff x="0" y="0"/>
            <a:chExt cx="508699" cy="2749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8699" cy="274995"/>
            </a:xfrm>
            <a:custGeom>
              <a:avLst/>
              <a:gdLst/>
              <a:ahLst/>
              <a:cxnLst/>
              <a:rect l="l" t="t" r="r" b="b"/>
              <a:pathLst>
                <a:path w="508699" h="274995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213833"/>
                  </a:lnTo>
                  <a:cubicBezTo>
                    <a:pt x="508699" y="247612"/>
                    <a:pt x="481315" y="274995"/>
                    <a:pt x="447537" y="274995"/>
                  </a:cubicBezTo>
                  <a:lnTo>
                    <a:pt x="61162" y="274995"/>
                  </a:lnTo>
                  <a:cubicBezTo>
                    <a:pt x="27383" y="274995"/>
                    <a:pt x="0" y="247612"/>
                    <a:pt x="0" y="213833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508699" cy="322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BP: 84/42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HR: 136</a:t>
              </a:r>
            </a:p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SpO₂: 86%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687842" y="8794763"/>
            <a:ext cx="6487085" cy="104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9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VITAL_COLUMNS = [ "systolic_bp", "diastolic_bp", "heart_rate",  "temperature", "oxygen_saturation"]</a:t>
            </a:r>
          </a:p>
          <a:p>
            <a:pPr algn="l">
              <a:lnSpc>
                <a:spcPts val="2784"/>
              </a:lnSpc>
            </a:pPr>
            <a:endParaRPr lang="en-US" sz="1988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pic>
        <p:nvPicPr>
          <p:cNvPr id="37" name="Picture 3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25139" y="182274"/>
            <a:ext cx="11228195" cy="119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Preprocessing</a:t>
            </a:r>
          </a:p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(Cleaning the Clinical Note)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594" y="1713777"/>
            <a:ext cx="5279090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5: Disfluency Removal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9919" y="2267425"/>
            <a:ext cx="7930032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Removes voice-to-text fillers such as um, uh and repeated/stuttered words.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594" y="3657016"/>
            <a:ext cx="6112204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6:  Clinical Spelling Correction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9919" y="4210664"/>
            <a:ext cx="8082088" cy="1408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Corrects known medical spelling errors using a custom clinical dictionary.</a:t>
            </a:r>
          </a:p>
          <a:p>
            <a:pPr algn="l">
              <a:lnSpc>
                <a:spcPts val="3764"/>
              </a:lnSpc>
            </a:pPr>
            <a:endParaRPr lang="en-US" sz="2688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5594" y="5600255"/>
            <a:ext cx="5279090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7. Text Normalization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9919" y="6153903"/>
            <a:ext cx="8268256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Converts text to lowercase and removes unnecessary punctuation and spacing variations.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594" y="7730502"/>
            <a:ext cx="5279090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8:Length Capping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9919" y="8284150"/>
            <a:ext cx="8082088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Limits unusually long notes to a maximum of 500 words to avoid excessive or irrelevant text.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843407" y="1935794"/>
            <a:ext cx="5294671" cy="1023489"/>
            <a:chOff x="0" y="0"/>
            <a:chExt cx="1089439" cy="210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9439" cy="210595"/>
            </a:xfrm>
            <a:custGeom>
              <a:avLst/>
              <a:gdLst/>
              <a:ahLst/>
              <a:cxnLst/>
              <a:rect l="l" t="t" r="r" b="b"/>
              <a:pathLst>
                <a:path w="1089439" h="210595">
                  <a:moveTo>
                    <a:pt x="28559" y="0"/>
                  </a:moveTo>
                  <a:lnTo>
                    <a:pt x="1060880" y="0"/>
                  </a:lnTo>
                  <a:cubicBezTo>
                    <a:pt x="1068454" y="0"/>
                    <a:pt x="1075718" y="3009"/>
                    <a:pt x="1081074" y="8365"/>
                  </a:cubicBezTo>
                  <a:cubicBezTo>
                    <a:pt x="1086430" y="13720"/>
                    <a:pt x="1089439" y="20985"/>
                    <a:pt x="1089439" y="28559"/>
                  </a:cubicBezTo>
                  <a:lnTo>
                    <a:pt x="1089439" y="182036"/>
                  </a:lnTo>
                  <a:cubicBezTo>
                    <a:pt x="1089439" y="189610"/>
                    <a:pt x="1086430" y="196874"/>
                    <a:pt x="1081074" y="202230"/>
                  </a:cubicBezTo>
                  <a:cubicBezTo>
                    <a:pt x="1075718" y="207586"/>
                    <a:pt x="1068454" y="210595"/>
                    <a:pt x="1060880" y="210595"/>
                  </a:cubicBezTo>
                  <a:lnTo>
                    <a:pt x="28559" y="210595"/>
                  </a:lnTo>
                  <a:cubicBezTo>
                    <a:pt x="20985" y="210595"/>
                    <a:pt x="13720" y="207586"/>
                    <a:pt x="8365" y="202230"/>
                  </a:cubicBezTo>
                  <a:cubicBezTo>
                    <a:pt x="3009" y="196874"/>
                    <a:pt x="0" y="189610"/>
                    <a:pt x="0" y="182036"/>
                  </a:cubicBezTo>
                  <a:lnTo>
                    <a:pt x="0" y="28559"/>
                  </a:lnTo>
                  <a:cubicBezTo>
                    <a:pt x="0" y="20985"/>
                    <a:pt x="3009" y="13720"/>
                    <a:pt x="8365" y="8365"/>
                  </a:cubicBezTo>
                  <a:cubicBezTo>
                    <a:pt x="13720" y="3009"/>
                    <a:pt x="20985" y="0"/>
                    <a:pt x="28559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89439" cy="248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um um pt states headach and vomitting... the the patient feels dizzy.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322132" y="1323144"/>
            <a:ext cx="1972383" cy="45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Raw data</a:t>
            </a:r>
          </a:p>
        </p:txBody>
      </p:sp>
      <p:sp>
        <p:nvSpPr>
          <p:cNvPr id="18" name="Freeform 18"/>
          <p:cNvSpPr/>
          <p:nvPr/>
        </p:nvSpPr>
        <p:spPr>
          <a:xfrm rot="5400000">
            <a:off x="14031461" y="3236146"/>
            <a:ext cx="769063" cy="215338"/>
          </a:xfrm>
          <a:custGeom>
            <a:avLst/>
            <a:gdLst/>
            <a:ahLst/>
            <a:cxnLst/>
            <a:rect l="l" t="t" r="r" b="b"/>
            <a:pathLst>
              <a:path w="769063" h="215338">
                <a:moveTo>
                  <a:pt x="0" y="0"/>
                </a:moveTo>
                <a:lnTo>
                  <a:pt x="769063" y="0"/>
                </a:lnTo>
                <a:lnTo>
                  <a:pt x="769063" y="215338"/>
                </a:lnTo>
                <a:lnTo>
                  <a:pt x="0" y="21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843407" y="3764065"/>
            <a:ext cx="5294671" cy="737739"/>
            <a:chOff x="0" y="0"/>
            <a:chExt cx="1089439" cy="1517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9439" cy="151798"/>
            </a:xfrm>
            <a:custGeom>
              <a:avLst/>
              <a:gdLst/>
              <a:ahLst/>
              <a:cxnLst/>
              <a:rect l="l" t="t" r="r" b="b"/>
              <a:pathLst>
                <a:path w="1089439" h="151798">
                  <a:moveTo>
                    <a:pt x="28559" y="0"/>
                  </a:moveTo>
                  <a:lnTo>
                    <a:pt x="1060880" y="0"/>
                  </a:lnTo>
                  <a:cubicBezTo>
                    <a:pt x="1068454" y="0"/>
                    <a:pt x="1075718" y="3009"/>
                    <a:pt x="1081074" y="8365"/>
                  </a:cubicBezTo>
                  <a:cubicBezTo>
                    <a:pt x="1086430" y="13720"/>
                    <a:pt x="1089439" y="20985"/>
                    <a:pt x="1089439" y="28559"/>
                  </a:cubicBezTo>
                  <a:lnTo>
                    <a:pt x="1089439" y="123239"/>
                  </a:lnTo>
                  <a:cubicBezTo>
                    <a:pt x="1089439" y="130814"/>
                    <a:pt x="1086430" y="138078"/>
                    <a:pt x="1081074" y="143434"/>
                  </a:cubicBezTo>
                  <a:cubicBezTo>
                    <a:pt x="1075718" y="148789"/>
                    <a:pt x="1068454" y="151798"/>
                    <a:pt x="1060880" y="151798"/>
                  </a:cubicBezTo>
                  <a:lnTo>
                    <a:pt x="28559" y="151798"/>
                  </a:lnTo>
                  <a:cubicBezTo>
                    <a:pt x="20985" y="151798"/>
                    <a:pt x="13720" y="148789"/>
                    <a:pt x="8365" y="143434"/>
                  </a:cubicBezTo>
                  <a:cubicBezTo>
                    <a:pt x="3009" y="138078"/>
                    <a:pt x="0" y="130814"/>
                    <a:pt x="0" y="123239"/>
                  </a:cubicBezTo>
                  <a:lnTo>
                    <a:pt x="0" y="28559"/>
                  </a:lnTo>
                  <a:cubicBezTo>
                    <a:pt x="0" y="20985"/>
                    <a:pt x="3009" y="13720"/>
                    <a:pt x="8365" y="8365"/>
                  </a:cubicBezTo>
                  <a:cubicBezTo>
                    <a:pt x="13720" y="3009"/>
                    <a:pt x="20985" y="0"/>
                    <a:pt x="28559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89439" cy="189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patient states headach and vomitting patient feels dizzy</a:t>
              </a:r>
            </a:p>
          </p:txBody>
        </p:sp>
      </p:grpSp>
      <p:sp>
        <p:nvSpPr>
          <p:cNvPr id="22" name="Freeform 22"/>
          <p:cNvSpPr/>
          <p:nvPr/>
        </p:nvSpPr>
        <p:spPr>
          <a:xfrm rot="5400000">
            <a:off x="14031461" y="4769626"/>
            <a:ext cx="769063" cy="215338"/>
          </a:xfrm>
          <a:custGeom>
            <a:avLst/>
            <a:gdLst/>
            <a:ahLst/>
            <a:cxnLst/>
            <a:rect l="l" t="t" r="r" b="b"/>
            <a:pathLst>
              <a:path w="769063" h="215338">
                <a:moveTo>
                  <a:pt x="0" y="0"/>
                </a:moveTo>
                <a:lnTo>
                  <a:pt x="769063" y="0"/>
                </a:lnTo>
                <a:lnTo>
                  <a:pt x="769063" y="215338"/>
                </a:lnTo>
                <a:lnTo>
                  <a:pt x="0" y="21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1876326" y="5395176"/>
            <a:ext cx="5294671" cy="737739"/>
            <a:chOff x="0" y="0"/>
            <a:chExt cx="1089439" cy="1517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89439" cy="151798"/>
            </a:xfrm>
            <a:custGeom>
              <a:avLst/>
              <a:gdLst/>
              <a:ahLst/>
              <a:cxnLst/>
              <a:rect l="l" t="t" r="r" b="b"/>
              <a:pathLst>
                <a:path w="1089439" h="151798">
                  <a:moveTo>
                    <a:pt x="28559" y="0"/>
                  </a:moveTo>
                  <a:lnTo>
                    <a:pt x="1060880" y="0"/>
                  </a:lnTo>
                  <a:cubicBezTo>
                    <a:pt x="1068454" y="0"/>
                    <a:pt x="1075718" y="3009"/>
                    <a:pt x="1081074" y="8365"/>
                  </a:cubicBezTo>
                  <a:cubicBezTo>
                    <a:pt x="1086430" y="13720"/>
                    <a:pt x="1089439" y="20985"/>
                    <a:pt x="1089439" y="28559"/>
                  </a:cubicBezTo>
                  <a:lnTo>
                    <a:pt x="1089439" y="123239"/>
                  </a:lnTo>
                  <a:cubicBezTo>
                    <a:pt x="1089439" y="130814"/>
                    <a:pt x="1086430" y="138078"/>
                    <a:pt x="1081074" y="143434"/>
                  </a:cubicBezTo>
                  <a:cubicBezTo>
                    <a:pt x="1075718" y="148789"/>
                    <a:pt x="1068454" y="151798"/>
                    <a:pt x="1060880" y="151798"/>
                  </a:cubicBezTo>
                  <a:lnTo>
                    <a:pt x="28559" y="151798"/>
                  </a:lnTo>
                  <a:cubicBezTo>
                    <a:pt x="20985" y="151798"/>
                    <a:pt x="13720" y="148789"/>
                    <a:pt x="8365" y="143434"/>
                  </a:cubicBezTo>
                  <a:cubicBezTo>
                    <a:pt x="3009" y="138078"/>
                    <a:pt x="0" y="130814"/>
                    <a:pt x="0" y="123239"/>
                  </a:cubicBezTo>
                  <a:lnTo>
                    <a:pt x="0" y="28559"/>
                  </a:lnTo>
                  <a:cubicBezTo>
                    <a:pt x="0" y="20985"/>
                    <a:pt x="3009" y="13720"/>
                    <a:pt x="8365" y="8365"/>
                  </a:cubicBezTo>
                  <a:cubicBezTo>
                    <a:pt x="13720" y="3009"/>
                    <a:pt x="20985" y="0"/>
                    <a:pt x="28559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89439" cy="189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patient states headache and vomiting patient feels dizzy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880996" y="6534948"/>
            <a:ext cx="6854656" cy="356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1612" lvl="1" indent="-190806" algn="l">
              <a:lnSpc>
                <a:spcPts val="2474"/>
              </a:lnSpc>
              <a:buFont typeface="Arial"/>
              <a:buChar char="•"/>
            </a:pPr>
            <a:r>
              <a:rPr lang="en-US" sz="1767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Stopword removal is handled by TfidfVectorizer(stop_words="english"), after these preprocessing steps.</a:t>
            </a:r>
          </a:p>
          <a:p>
            <a:pPr algn="l">
              <a:lnSpc>
                <a:spcPts val="2474"/>
              </a:lnSpc>
            </a:pPr>
            <a:endParaRPr lang="en-US" sz="1767" b="1">
              <a:solidFill>
                <a:srgbClr val="000000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algn="l">
              <a:lnSpc>
                <a:spcPts val="2754"/>
              </a:lnSpc>
            </a:pPr>
            <a:r>
              <a:rPr lang="en-US" sz="196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CLINICAL_SPELLING_CORRECTIONS = [ "shortness", "breath", "tachycardia", "anaphylaxis", "abdominal", "diarrhea", "diarrhea", "dizziness", "nausea", "vomiting", "headache", "difficulty", "swelling", "palpitations", "palpitations", "pressure", "allergic", "allergies", "hypertension", "hypertensive","feverish" ]</a:t>
            </a:r>
          </a:p>
          <a:p>
            <a:pPr algn="l">
              <a:lnSpc>
                <a:spcPts val="2474"/>
              </a:lnSpc>
            </a:pPr>
            <a:endParaRPr lang="en-US" sz="196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pic>
        <p:nvPicPr>
          <p:cNvPr id="29" name="Picture 28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916577" y="3020928"/>
            <a:ext cx="1574056" cy="591667"/>
            <a:chOff x="0" y="0"/>
            <a:chExt cx="323880" cy="121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3880" cy="121742"/>
            </a:xfrm>
            <a:custGeom>
              <a:avLst/>
              <a:gdLst/>
              <a:ahLst/>
              <a:cxnLst/>
              <a:rect l="l" t="t" r="r" b="b"/>
              <a:pathLst>
                <a:path w="323880" h="121742">
                  <a:moveTo>
                    <a:pt x="60871" y="0"/>
                  </a:moveTo>
                  <a:lnTo>
                    <a:pt x="263009" y="0"/>
                  </a:lnTo>
                  <a:cubicBezTo>
                    <a:pt x="279153" y="0"/>
                    <a:pt x="294636" y="6413"/>
                    <a:pt x="306051" y="17829"/>
                  </a:cubicBezTo>
                  <a:cubicBezTo>
                    <a:pt x="317467" y="29244"/>
                    <a:pt x="323880" y="44727"/>
                    <a:pt x="323880" y="60871"/>
                  </a:cubicBezTo>
                  <a:lnTo>
                    <a:pt x="323880" y="60871"/>
                  </a:lnTo>
                  <a:cubicBezTo>
                    <a:pt x="323880" y="94489"/>
                    <a:pt x="296627" y="121742"/>
                    <a:pt x="263009" y="121742"/>
                  </a:cubicBezTo>
                  <a:lnTo>
                    <a:pt x="60871" y="121742"/>
                  </a:lnTo>
                  <a:cubicBezTo>
                    <a:pt x="27253" y="121742"/>
                    <a:pt x="0" y="94489"/>
                    <a:pt x="0" y="60871"/>
                  </a:cubicBezTo>
                  <a:lnTo>
                    <a:pt x="0" y="60871"/>
                  </a:lnTo>
                  <a:cubicBezTo>
                    <a:pt x="0" y="27253"/>
                    <a:pt x="27253" y="0"/>
                    <a:pt x="60871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3880" cy="159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Purpose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6577" y="4847667"/>
            <a:ext cx="1574056" cy="591667"/>
            <a:chOff x="0" y="0"/>
            <a:chExt cx="323880" cy="1217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3880" cy="121742"/>
            </a:xfrm>
            <a:custGeom>
              <a:avLst/>
              <a:gdLst/>
              <a:ahLst/>
              <a:cxnLst/>
              <a:rect l="l" t="t" r="r" b="b"/>
              <a:pathLst>
                <a:path w="323880" h="121742">
                  <a:moveTo>
                    <a:pt x="60871" y="0"/>
                  </a:moveTo>
                  <a:lnTo>
                    <a:pt x="263009" y="0"/>
                  </a:lnTo>
                  <a:cubicBezTo>
                    <a:pt x="279153" y="0"/>
                    <a:pt x="294636" y="6413"/>
                    <a:pt x="306051" y="17829"/>
                  </a:cubicBezTo>
                  <a:cubicBezTo>
                    <a:pt x="317467" y="29244"/>
                    <a:pt x="323880" y="44727"/>
                    <a:pt x="323880" y="60871"/>
                  </a:cubicBezTo>
                  <a:lnTo>
                    <a:pt x="323880" y="60871"/>
                  </a:lnTo>
                  <a:cubicBezTo>
                    <a:pt x="323880" y="94489"/>
                    <a:pt x="296627" y="121742"/>
                    <a:pt x="263009" y="121742"/>
                  </a:cubicBezTo>
                  <a:lnTo>
                    <a:pt x="60871" y="121742"/>
                  </a:lnTo>
                  <a:cubicBezTo>
                    <a:pt x="27253" y="121742"/>
                    <a:pt x="0" y="94489"/>
                    <a:pt x="0" y="60871"/>
                  </a:cubicBezTo>
                  <a:lnTo>
                    <a:pt x="0" y="60871"/>
                  </a:lnTo>
                  <a:cubicBezTo>
                    <a:pt x="0" y="27253"/>
                    <a:pt x="27253" y="0"/>
                    <a:pt x="60871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3880" cy="159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Further used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62007" y="3020928"/>
            <a:ext cx="1188894" cy="591667"/>
            <a:chOff x="0" y="0"/>
            <a:chExt cx="244628" cy="1217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628" cy="121742"/>
            </a:xfrm>
            <a:custGeom>
              <a:avLst/>
              <a:gdLst/>
              <a:ahLst/>
              <a:cxnLst/>
              <a:rect l="l" t="t" r="r" b="b"/>
              <a:pathLst>
                <a:path w="244628" h="121742">
                  <a:moveTo>
                    <a:pt x="60871" y="0"/>
                  </a:moveTo>
                  <a:lnTo>
                    <a:pt x="183757" y="0"/>
                  </a:lnTo>
                  <a:cubicBezTo>
                    <a:pt x="217375" y="0"/>
                    <a:pt x="244628" y="27253"/>
                    <a:pt x="244628" y="60871"/>
                  </a:cubicBezTo>
                  <a:lnTo>
                    <a:pt x="244628" y="60871"/>
                  </a:lnTo>
                  <a:cubicBezTo>
                    <a:pt x="244628" y="94489"/>
                    <a:pt x="217375" y="121742"/>
                    <a:pt x="183757" y="121742"/>
                  </a:cubicBezTo>
                  <a:lnTo>
                    <a:pt x="60871" y="121742"/>
                  </a:lnTo>
                  <a:cubicBezTo>
                    <a:pt x="27253" y="121742"/>
                    <a:pt x="0" y="94489"/>
                    <a:pt x="0" y="60871"/>
                  </a:cubicBezTo>
                  <a:lnTo>
                    <a:pt x="0" y="60871"/>
                  </a:lnTo>
                  <a:cubicBezTo>
                    <a:pt x="0" y="27253"/>
                    <a:pt x="27253" y="0"/>
                    <a:pt x="60871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4628" cy="159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Purpose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62007" y="4847667"/>
            <a:ext cx="1454652" cy="591667"/>
            <a:chOff x="0" y="0"/>
            <a:chExt cx="299311" cy="1217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9311" cy="121742"/>
            </a:xfrm>
            <a:custGeom>
              <a:avLst/>
              <a:gdLst/>
              <a:ahLst/>
              <a:cxnLst/>
              <a:rect l="l" t="t" r="r" b="b"/>
              <a:pathLst>
                <a:path w="299311" h="121742">
                  <a:moveTo>
                    <a:pt x="60871" y="0"/>
                  </a:moveTo>
                  <a:lnTo>
                    <a:pt x="238440" y="0"/>
                  </a:lnTo>
                  <a:cubicBezTo>
                    <a:pt x="272058" y="0"/>
                    <a:pt x="299311" y="27253"/>
                    <a:pt x="299311" y="60871"/>
                  </a:cubicBezTo>
                  <a:lnTo>
                    <a:pt x="299311" y="60871"/>
                  </a:lnTo>
                  <a:cubicBezTo>
                    <a:pt x="299311" y="94489"/>
                    <a:pt x="272058" y="121742"/>
                    <a:pt x="238440" y="121742"/>
                  </a:cubicBezTo>
                  <a:lnTo>
                    <a:pt x="60871" y="121742"/>
                  </a:lnTo>
                  <a:cubicBezTo>
                    <a:pt x="27253" y="121742"/>
                    <a:pt x="0" y="94489"/>
                    <a:pt x="0" y="60871"/>
                  </a:cubicBezTo>
                  <a:lnTo>
                    <a:pt x="0" y="60871"/>
                  </a:lnTo>
                  <a:cubicBezTo>
                    <a:pt x="0" y="27253"/>
                    <a:pt x="27253" y="0"/>
                    <a:pt x="60871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99311" cy="159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Further used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9449" y="6887925"/>
            <a:ext cx="16065756" cy="955430"/>
          </a:xfrm>
          <a:custGeom>
            <a:avLst/>
            <a:gdLst/>
            <a:ahLst/>
            <a:cxnLst/>
            <a:rect l="l" t="t" r="r" b="b"/>
            <a:pathLst>
              <a:path w="16065756" h="955430">
                <a:moveTo>
                  <a:pt x="0" y="0"/>
                </a:moveTo>
                <a:lnTo>
                  <a:pt x="16065757" y="0"/>
                </a:lnTo>
                <a:lnTo>
                  <a:pt x="16065757" y="955430"/>
                </a:lnTo>
                <a:lnTo>
                  <a:pt x="0" y="95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46052" y="8829158"/>
            <a:ext cx="15713248" cy="836447"/>
          </a:xfrm>
          <a:custGeom>
            <a:avLst/>
            <a:gdLst/>
            <a:ahLst/>
            <a:cxnLst/>
            <a:rect l="l" t="t" r="r" b="b"/>
            <a:pathLst>
              <a:path w="15713248" h="836447">
                <a:moveTo>
                  <a:pt x="0" y="0"/>
                </a:moveTo>
                <a:lnTo>
                  <a:pt x="15713248" y="0"/>
                </a:lnTo>
                <a:lnTo>
                  <a:pt x="15713248" y="836446"/>
                </a:lnTo>
                <a:lnTo>
                  <a:pt x="0" y="836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325139" y="440173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Preprocessed Data &amp; Audit Trail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93048" y="1557948"/>
            <a:ext cx="5279090" cy="52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088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cleaned_notes.csv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93048" y="2618339"/>
            <a:ext cx="5987952" cy="1408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Final cleaned clinical text + extracted vital signs + original note information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93048" y="4498771"/>
            <a:ext cx="5751593" cy="1408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Model training, TF-IDF feature generation and model development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87537" y="2827035"/>
            <a:ext cx="5989601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Detailed record of what preprocessing changed for each note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48866" y="4694001"/>
            <a:ext cx="6104450" cy="9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Validation, traceability, debugging and preprocessing transparency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787537" y="1557948"/>
            <a:ext cx="5279090" cy="52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088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preprocessing_audit.csv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9449" y="6383100"/>
            <a:ext cx="1871424" cy="28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4"/>
              </a:lnSpc>
              <a:spcBef>
                <a:spcPct val="0"/>
              </a:spcBef>
            </a:pPr>
            <a:r>
              <a:rPr lang="en-US" sz="1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cleaned_notes.csv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79449" y="8319605"/>
            <a:ext cx="2446972" cy="28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4"/>
              </a:lnSpc>
              <a:spcBef>
                <a:spcPct val="0"/>
              </a:spcBef>
            </a:pPr>
            <a:r>
              <a:rPr lang="en-US" sz="16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preprocessing_audit.csv</a:t>
            </a:r>
          </a:p>
        </p:txBody>
      </p:sp>
      <p:pic>
        <p:nvPicPr>
          <p:cNvPr id="30" name="Picture 29" descr="logo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828835" y="3375906"/>
            <a:ext cx="1922766" cy="591667"/>
            <a:chOff x="0" y="0"/>
            <a:chExt cx="395631" cy="121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5631" cy="121742"/>
            </a:xfrm>
            <a:custGeom>
              <a:avLst/>
              <a:gdLst/>
              <a:ahLst/>
              <a:cxnLst/>
              <a:rect l="l" t="t" r="r" b="b"/>
              <a:pathLst>
                <a:path w="395631" h="121742">
                  <a:moveTo>
                    <a:pt x="60871" y="0"/>
                  </a:moveTo>
                  <a:lnTo>
                    <a:pt x="334760" y="0"/>
                  </a:lnTo>
                  <a:cubicBezTo>
                    <a:pt x="368378" y="0"/>
                    <a:pt x="395631" y="27253"/>
                    <a:pt x="395631" y="60871"/>
                  </a:cubicBezTo>
                  <a:lnTo>
                    <a:pt x="395631" y="60871"/>
                  </a:lnTo>
                  <a:cubicBezTo>
                    <a:pt x="395631" y="94489"/>
                    <a:pt x="368378" y="121742"/>
                    <a:pt x="334760" y="121742"/>
                  </a:cubicBezTo>
                  <a:lnTo>
                    <a:pt x="60871" y="121742"/>
                  </a:lnTo>
                  <a:cubicBezTo>
                    <a:pt x="27253" y="121742"/>
                    <a:pt x="0" y="94489"/>
                    <a:pt x="0" y="60871"/>
                  </a:cubicBezTo>
                  <a:lnTo>
                    <a:pt x="0" y="60871"/>
                  </a:lnTo>
                  <a:cubicBezTo>
                    <a:pt x="0" y="27253"/>
                    <a:pt x="27253" y="0"/>
                    <a:pt x="60871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5631" cy="159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Train–Test Split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956365" y="3539054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5" y="0"/>
                </a:lnTo>
                <a:lnTo>
                  <a:pt x="947755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77858" y="3539054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5" y="0"/>
                </a:lnTo>
                <a:lnTo>
                  <a:pt x="947755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093014" y="3326688"/>
            <a:ext cx="3366151" cy="955474"/>
            <a:chOff x="0" y="0"/>
            <a:chExt cx="692624" cy="196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2624" cy="196600"/>
            </a:xfrm>
            <a:custGeom>
              <a:avLst/>
              <a:gdLst/>
              <a:ahLst/>
              <a:cxnLst/>
              <a:rect l="l" t="t" r="r" b="b"/>
              <a:pathLst>
                <a:path w="692624" h="196600">
                  <a:moveTo>
                    <a:pt x="44921" y="0"/>
                  </a:moveTo>
                  <a:lnTo>
                    <a:pt x="647703" y="0"/>
                  </a:lnTo>
                  <a:cubicBezTo>
                    <a:pt x="659617" y="0"/>
                    <a:pt x="671043" y="4733"/>
                    <a:pt x="679467" y="13157"/>
                  </a:cubicBezTo>
                  <a:cubicBezTo>
                    <a:pt x="687891" y="21581"/>
                    <a:pt x="692624" y="33007"/>
                    <a:pt x="692624" y="44921"/>
                  </a:cubicBezTo>
                  <a:lnTo>
                    <a:pt x="692624" y="151679"/>
                  </a:lnTo>
                  <a:cubicBezTo>
                    <a:pt x="692624" y="163593"/>
                    <a:pt x="687891" y="175018"/>
                    <a:pt x="679467" y="183443"/>
                  </a:cubicBezTo>
                  <a:cubicBezTo>
                    <a:pt x="671043" y="191867"/>
                    <a:pt x="659617" y="196600"/>
                    <a:pt x="647703" y="196600"/>
                  </a:cubicBezTo>
                  <a:lnTo>
                    <a:pt x="44921" y="196600"/>
                  </a:lnTo>
                  <a:cubicBezTo>
                    <a:pt x="20112" y="196600"/>
                    <a:pt x="0" y="176488"/>
                    <a:pt x="0" y="151679"/>
                  </a:cubicBezTo>
                  <a:lnTo>
                    <a:pt x="0" y="44921"/>
                  </a:lnTo>
                  <a:cubicBezTo>
                    <a:pt x="0" y="33007"/>
                    <a:pt x="4733" y="21581"/>
                    <a:pt x="13157" y="13157"/>
                  </a:cubicBezTo>
                  <a:cubicBezTo>
                    <a:pt x="21581" y="4733"/>
                    <a:pt x="33007" y="0"/>
                    <a:pt x="44921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2624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Training → 1,680 notes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Testing → 420 notes</a:t>
              </a:r>
            </a:p>
          </p:txBody>
        </p:sp>
      </p:grpSp>
      <p:sp>
        <p:nvSpPr>
          <p:cNvPr id="13" name="Freeform 13"/>
          <p:cNvSpPr/>
          <p:nvPr/>
        </p:nvSpPr>
        <p:spPr>
          <a:xfrm rot="-999522">
            <a:off x="8898189" y="2879185"/>
            <a:ext cx="494912" cy="818037"/>
          </a:xfrm>
          <a:custGeom>
            <a:avLst/>
            <a:gdLst/>
            <a:ahLst/>
            <a:cxnLst/>
            <a:rect l="l" t="t" r="r" b="b"/>
            <a:pathLst>
              <a:path w="494912" h="818037">
                <a:moveTo>
                  <a:pt x="0" y="0"/>
                </a:moveTo>
                <a:lnTo>
                  <a:pt x="494912" y="0"/>
                </a:lnTo>
                <a:lnTo>
                  <a:pt x="494912" y="818036"/>
                </a:lnTo>
                <a:lnTo>
                  <a:pt x="0" y="818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993126" y="3671740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4" y="0"/>
                </a:lnTo>
                <a:lnTo>
                  <a:pt x="947754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828835" y="5818292"/>
            <a:ext cx="2039788" cy="737739"/>
            <a:chOff x="0" y="0"/>
            <a:chExt cx="419710" cy="1517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9710" cy="151798"/>
            </a:xfrm>
            <a:custGeom>
              <a:avLst/>
              <a:gdLst/>
              <a:ahLst/>
              <a:cxnLst/>
              <a:rect l="l" t="t" r="r" b="b"/>
              <a:pathLst>
                <a:path w="419710" h="151798">
                  <a:moveTo>
                    <a:pt x="74130" y="0"/>
                  </a:moveTo>
                  <a:lnTo>
                    <a:pt x="345580" y="0"/>
                  </a:lnTo>
                  <a:cubicBezTo>
                    <a:pt x="365240" y="0"/>
                    <a:pt x="384095" y="7810"/>
                    <a:pt x="397997" y="21712"/>
                  </a:cubicBezTo>
                  <a:cubicBezTo>
                    <a:pt x="411899" y="35614"/>
                    <a:pt x="419710" y="54469"/>
                    <a:pt x="419710" y="74130"/>
                  </a:cubicBezTo>
                  <a:lnTo>
                    <a:pt x="419710" y="77668"/>
                  </a:lnTo>
                  <a:cubicBezTo>
                    <a:pt x="419710" y="97329"/>
                    <a:pt x="411899" y="116184"/>
                    <a:pt x="397997" y="130086"/>
                  </a:cubicBezTo>
                  <a:cubicBezTo>
                    <a:pt x="384095" y="143988"/>
                    <a:pt x="365240" y="151798"/>
                    <a:pt x="345580" y="151798"/>
                  </a:cubicBezTo>
                  <a:lnTo>
                    <a:pt x="74130" y="151798"/>
                  </a:lnTo>
                  <a:cubicBezTo>
                    <a:pt x="54469" y="151798"/>
                    <a:pt x="35614" y="143988"/>
                    <a:pt x="21712" y="130086"/>
                  </a:cubicBezTo>
                  <a:cubicBezTo>
                    <a:pt x="7810" y="116184"/>
                    <a:pt x="0" y="97329"/>
                    <a:pt x="0" y="77668"/>
                  </a:cubicBezTo>
                  <a:lnTo>
                    <a:pt x="0" y="74130"/>
                  </a:lnTo>
                  <a:cubicBezTo>
                    <a:pt x="0" y="54469"/>
                    <a:pt x="7810" y="35614"/>
                    <a:pt x="21712" y="21712"/>
                  </a:cubicBezTo>
                  <a:cubicBezTo>
                    <a:pt x="35614" y="7810"/>
                    <a:pt x="54469" y="0"/>
                    <a:pt x="74130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19710" cy="189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TF-IDF Configuration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3014876" y="6054477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5" y="0"/>
                </a:lnTo>
                <a:lnTo>
                  <a:pt x="947755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382496" y="5731094"/>
            <a:ext cx="3449017" cy="222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TfidfVectorizer(</a:t>
            </a:r>
          </a:p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   min_df=2,</a:t>
            </a:r>
          </a:p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   ngram_range=(1, 2),</a:t>
            </a:r>
          </a:p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   sublinear_tf=True,</a:t>
            </a:r>
          </a:p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   max_features=None,</a:t>
            </a:r>
          </a:p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   stop_words="english"</a:t>
            </a:r>
          </a:p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)</a:t>
            </a:r>
          </a:p>
        </p:txBody>
      </p:sp>
      <p:sp>
        <p:nvSpPr>
          <p:cNvPr id="20" name="Freeform 20"/>
          <p:cNvSpPr/>
          <p:nvPr/>
        </p:nvSpPr>
        <p:spPr>
          <a:xfrm>
            <a:off x="7536369" y="6157851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4" y="0"/>
                </a:lnTo>
                <a:lnTo>
                  <a:pt x="947754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999522">
            <a:off x="9460267" y="5486039"/>
            <a:ext cx="532024" cy="879379"/>
          </a:xfrm>
          <a:custGeom>
            <a:avLst/>
            <a:gdLst/>
            <a:ahLst/>
            <a:cxnLst/>
            <a:rect l="l" t="t" r="r" b="b"/>
            <a:pathLst>
              <a:path w="532024" h="879379">
                <a:moveTo>
                  <a:pt x="0" y="0"/>
                </a:moveTo>
                <a:lnTo>
                  <a:pt x="532025" y="0"/>
                </a:lnTo>
                <a:lnTo>
                  <a:pt x="532025" y="879379"/>
                </a:lnTo>
                <a:lnTo>
                  <a:pt x="0" y="879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325139" y="440173"/>
            <a:ext cx="11228195" cy="119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TF-IDF Feature Extraction</a:t>
            </a:r>
          </a:p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(Converting Clinical Text into ML Features)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3017" y="2032931"/>
            <a:ext cx="15116610" cy="406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49" lvl="1" indent="-257874" algn="l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After preprocessing, the cleaned clinical notes are converted into numerical features using TF-IDF.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04145" y="3347331"/>
            <a:ext cx="3173688" cy="146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  80% Training / 20% Testing</a:t>
            </a:r>
          </a:p>
          <a:p>
            <a:pPr marL="730486" lvl="2" indent="-243495" algn="l">
              <a:lnSpc>
                <a:spcPts val="2368"/>
              </a:lnSpc>
              <a:buFont typeface="Arial"/>
              <a:buChar char="⚬"/>
            </a:pPr>
            <a:r>
              <a:rPr lang="en-US" sz="1691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test_size = 0.20</a:t>
            </a:r>
          </a:p>
          <a:p>
            <a:pPr marL="730486" lvl="2" indent="-243495" algn="l">
              <a:lnSpc>
                <a:spcPts val="2368"/>
              </a:lnSpc>
              <a:buFont typeface="Arial"/>
              <a:buChar char="⚬"/>
            </a:pPr>
            <a:r>
              <a:rPr lang="en-US" sz="1691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stratify = priority</a:t>
            </a:r>
          </a:p>
          <a:p>
            <a:pPr marL="730486" lvl="2" indent="-243495" algn="l">
              <a:lnSpc>
                <a:spcPts val="2368"/>
              </a:lnSpc>
              <a:buFont typeface="Arial"/>
              <a:buChar char="⚬"/>
            </a:pPr>
            <a:r>
              <a:rPr lang="en-US" sz="1691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random_state = 42</a:t>
            </a:r>
          </a:p>
          <a:p>
            <a:pPr algn="l">
              <a:lnSpc>
                <a:spcPts val="2368"/>
              </a:lnSpc>
            </a:pPr>
            <a:endParaRPr lang="en-US" sz="1691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28545" y="3259628"/>
            <a:ext cx="1738782" cy="28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Why stratified?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4983" y="3642606"/>
            <a:ext cx="3338350" cy="116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To maintain the High / Medium / Low class distribution in both sets.</a:t>
            </a:r>
          </a:p>
          <a:p>
            <a:pPr algn="l">
              <a:lnSpc>
                <a:spcPts val="2368"/>
              </a:lnSpc>
            </a:pPr>
            <a:endParaRPr lang="en-US" sz="1691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56220" y="5604942"/>
            <a:ext cx="3021129" cy="28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Why unigrams + bigrams?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07173" y="6029964"/>
            <a:ext cx="5545928" cy="175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This helps the model capture clinically useful word combinations rather than treating every word independently.</a:t>
            </a:r>
          </a:p>
          <a:p>
            <a:pPr algn="l">
              <a:lnSpc>
                <a:spcPts val="2368"/>
              </a:lnSpc>
            </a:pPr>
            <a:endParaRPr lang="en-US" sz="1691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"pain" → unigram </a:t>
            </a:r>
          </a:p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"chest pain" → bigram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6491" y="8302110"/>
            <a:ext cx="11653742" cy="124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49" lvl="1" indent="-257874" algn="l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TF-IDF vectorizer is fitted only on the training data.</a:t>
            </a:r>
          </a:p>
          <a:p>
            <a:pPr marL="515749" lvl="1" indent="-257874" algn="l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The test set is only transformed using the already learned vocabulary and IDF values.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3390127" y="7959210"/>
            <a:ext cx="3869173" cy="955474"/>
            <a:chOff x="0" y="0"/>
            <a:chExt cx="796126" cy="196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96126" cy="196600"/>
            </a:xfrm>
            <a:custGeom>
              <a:avLst/>
              <a:gdLst/>
              <a:ahLst/>
              <a:cxnLst/>
              <a:rect l="l" t="t" r="r" b="b"/>
              <a:pathLst>
                <a:path w="796126" h="196600">
                  <a:moveTo>
                    <a:pt x="39081" y="0"/>
                  </a:moveTo>
                  <a:lnTo>
                    <a:pt x="757046" y="0"/>
                  </a:lnTo>
                  <a:cubicBezTo>
                    <a:pt x="778629" y="0"/>
                    <a:pt x="796126" y="17497"/>
                    <a:pt x="796126" y="39081"/>
                  </a:cubicBezTo>
                  <a:lnTo>
                    <a:pt x="796126" y="157519"/>
                  </a:lnTo>
                  <a:cubicBezTo>
                    <a:pt x="796126" y="179103"/>
                    <a:pt x="778629" y="196600"/>
                    <a:pt x="757046" y="196600"/>
                  </a:cubicBezTo>
                  <a:lnTo>
                    <a:pt x="39081" y="196600"/>
                  </a:lnTo>
                  <a:cubicBezTo>
                    <a:pt x="17497" y="196600"/>
                    <a:pt x="0" y="179103"/>
                    <a:pt x="0" y="157519"/>
                  </a:cubicBezTo>
                  <a:lnTo>
                    <a:pt x="0" y="39081"/>
                  </a:lnTo>
                  <a:cubicBezTo>
                    <a:pt x="0" y="17497"/>
                    <a:pt x="17497" y="0"/>
                    <a:pt x="39081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796126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models/ 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└──  tfidf_vectorizer.pkl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5324713" y="7506339"/>
            <a:ext cx="1738782" cy="28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Saved Model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093014" y="9096356"/>
            <a:ext cx="2907500" cy="87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Current trained vocabulary: 1,086 features</a:t>
            </a:r>
          </a:p>
          <a:p>
            <a:pPr algn="l">
              <a:lnSpc>
                <a:spcPts val="2368"/>
              </a:lnSpc>
            </a:pPr>
            <a:endParaRPr lang="en-US" sz="1691" b="1">
              <a:solidFill>
                <a:srgbClr val="000000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pic>
        <p:nvPicPr>
          <p:cNvPr id="37" name="Picture 36" descr="logo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484685" y="4217219"/>
            <a:ext cx="2191370" cy="840799"/>
            <a:chOff x="0" y="0"/>
            <a:chExt cx="395631" cy="1517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5631" cy="151798"/>
            </a:xfrm>
            <a:custGeom>
              <a:avLst/>
              <a:gdLst/>
              <a:ahLst/>
              <a:cxnLst/>
              <a:rect l="l" t="t" r="r" b="b"/>
              <a:pathLst>
                <a:path w="395631" h="151798">
                  <a:moveTo>
                    <a:pt x="69002" y="0"/>
                  </a:moveTo>
                  <a:lnTo>
                    <a:pt x="326629" y="0"/>
                  </a:lnTo>
                  <a:cubicBezTo>
                    <a:pt x="364738" y="0"/>
                    <a:pt x="395631" y="30893"/>
                    <a:pt x="395631" y="69002"/>
                  </a:cubicBezTo>
                  <a:lnTo>
                    <a:pt x="395631" y="82796"/>
                  </a:lnTo>
                  <a:cubicBezTo>
                    <a:pt x="395631" y="120905"/>
                    <a:pt x="364738" y="151798"/>
                    <a:pt x="326629" y="151798"/>
                  </a:cubicBezTo>
                  <a:lnTo>
                    <a:pt x="69002" y="151798"/>
                  </a:lnTo>
                  <a:cubicBezTo>
                    <a:pt x="30893" y="151798"/>
                    <a:pt x="0" y="120905"/>
                    <a:pt x="0" y="82796"/>
                  </a:cubicBezTo>
                  <a:lnTo>
                    <a:pt x="0" y="69002"/>
                  </a:lnTo>
                  <a:cubicBezTo>
                    <a:pt x="0" y="30893"/>
                    <a:pt x="30893" y="0"/>
                    <a:pt x="69002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5631" cy="189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TF-IDF + Logistic Regression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894029" y="4390892"/>
            <a:ext cx="1008895" cy="282491"/>
          </a:xfrm>
          <a:custGeom>
            <a:avLst/>
            <a:gdLst/>
            <a:ahLst/>
            <a:cxnLst/>
            <a:rect l="l" t="t" r="r" b="b"/>
            <a:pathLst>
              <a:path w="1008895" h="282491">
                <a:moveTo>
                  <a:pt x="0" y="0"/>
                </a:moveTo>
                <a:lnTo>
                  <a:pt x="1008895" y="0"/>
                </a:lnTo>
                <a:lnTo>
                  <a:pt x="1008895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149537" y="4390892"/>
            <a:ext cx="1008895" cy="282491"/>
          </a:xfrm>
          <a:custGeom>
            <a:avLst/>
            <a:gdLst/>
            <a:ahLst/>
            <a:cxnLst/>
            <a:rect l="l" t="t" r="r" b="b"/>
            <a:pathLst>
              <a:path w="1008895" h="282491">
                <a:moveTo>
                  <a:pt x="0" y="0"/>
                </a:moveTo>
                <a:lnTo>
                  <a:pt x="1008895" y="0"/>
                </a:lnTo>
                <a:lnTo>
                  <a:pt x="1008895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897343" y="4468640"/>
            <a:ext cx="1008895" cy="282491"/>
          </a:xfrm>
          <a:custGeom>
            <a:avLst/>
            <a:gdLst/>
            <a:ahLst/>
            <a:cxnLst/>
            <a:rect l="l" t="t" r="r" b="b"/>
            <a:pathLst>
              <a:path w="1008895" h="282491">
                <a:moveTo>
                  <a:pt x="0" y="0"/>
                </a:moveTo>
                <a:lnTo>
                  <a:pt x="1008895" y="0"/>
                </a:lnTo>
                <a:lnTo>
                  <a:pt x="1008895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29249" y="6817166"/>
            <a:ext cx="2171377" cy="1089516"/>
            <a:chOff x="0" y="0"/>
            <a:chExt cx="419710" cy="2105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9710" cy="210595"/>
            </a:xfrm>
            <a:custGeom>
              <a:avLst/>
              <a:gdLst/>
              <a:ahLst/>
              <a:cxnLst/>
              <a:rect l="l" t="t" r="r" b="b"/>
              <a:pathLst>
                <a:path w="419710" h="210595">
                  <a:moveTo>
                    <a:pt x="69638" y="0"/>
                  </a:moveTo>
                  <a:lnTo>
                    <a:pt x="350072" y="0"/>
                  </a:lnTo>
                  <a:cubicBezTo>
                    <a:pt x="368541" y="0"/>
                    <a:pt x="386254" y="7337"/>
                    <a:pt x="399313" y="20396"/>
                  </a:cubicBezTo>
                  <a:cubicBezTo>
                    <a:pt x="412373" y="33456"/>
                    <a:pt x="419710" y="51169"/>
                    <a:pt x="419710" y="69638"/>
                  </a:cubicBezTo>
                  <a:lnTo>
                    <a:pt x="419710" y="140957"/>
                  </a:lnTo>
                  <a:cubicBezTo>
                    <a:pt x="419710" y="159426"/>
                    <a:pt x="412373" y="177139"/>
                    <a:pt x="399313" y="190198"/>
                  </a:cubicBezTo>
                  <a:cubicBezTo>
                    <a:pt x="386254" y="203258"/>
                    <a:pt x="368541" y="210595"/>
                    <a:pt x="350072" y="210595"/>
                  </a:cubicBezTo>
                  <a:lnTo>
                    <a:pt x="69638" y="210595"/>
                  </a:lnTo>
                  <a:cubicBezTo>
                    <a:pt x="51169" y="210595"/>
                    <a:pt x="33456" y="203258"/>
                    <a:pt x="20396" y="190198"/>
                  </a:cubicBezTo>
                  <a:cubicBezTo>
                    <a:pt x="7337" y="177139"/>
                    <a:pt x="0" y="159426"/>
                    <a:pt x="0" y="140957"/>
                  </a:cubicBezTo>
                  <a:lnTo>
                    <a:pt x="0" y="69638"/>
                  </a:lnTo>
                  <a:cubicBezTo>
                    <a:pt x="0" y="51169"/>
                    <a:pt x="7337" y="33456"/>
                    <a:pt x="20396" y="20396"/>
                  </a:cubicBezTo>
                  <a:cubicBezTo>
                    <a:pt x="33456" y="7337"/>
                    <a:pt x="51169" y="0"/>
                    <a:pt x="69638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19710" cy="248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TF-IDF + Multinomial Naive Bayes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2956314" y="7068587"/>
            <a:ext cx="1008895" cy="282491"/>
          </a:xfrm>
          <a:custGeom>
            <a:avLst/>
            <a:gdLst/>
            <a:ahLst/>
            <a:cxnLst/>
            <a:rect l="l" t="t" r="r" b="b"/>
            <a:pathLst>
              <a:path w="1008895" h="282491">
                <a:moveTo>
                  <a:pt x="0" y="0"/>
                </a:moveTo>
                <a:lnTo>
                  <a:pt x="1008895" y="0"/>
                </a:lnTo>
                <a:lnTo>
                  <a:pt x="1008895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445854" y="6506013"/>
            <a:ext cx="3671516" cy="32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MultinomialNB()</a:t>
            </a:r>
          </a:p>
        </p:txBody>
      </p:sp>
      <p:sp>
        <p:nvSpPr>
          <p:cNvPr id="16" name="Freeform 16"/>
          <p:cNvSpPr/>
          <p:nvPr/>
        </p:nvSpPr>
        <p:spPr>
          <a:xfrm>
            <a:off x="7149537" y="7084764"/>
            <a:ext cx="1008895" cy="282491"/>
          </a:xfrm>
          <a:custGeom>
            <a:avLst/>
            <a:gdLst/>
            <a:ahLst/>
            <a:cxnLst/>
            <a:rect l="l" t="t" r="r" b="b"/>
            <a:pathLst>
              <a:path w="1008895" h="282491">
                <a:moveTo>
                  <a:pt x="0" y="0"/>
                </a:moveTo>
                <a:lnTo>
                  <a:pt x="1008895" y="0"/>
                </a:lnTo>
                <a:lnTo>
                  <a:pt x="1008895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60762" y="701099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Model Development: Text-Based Models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9177" y="2082640"/>
            <a:ext cx="15116610" cy="825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49" lvl="1" indent="-257874" algn="l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Both models receive the same TF-IDF feature matrix.</a:t>
            </a:r>
          </a:p>
          <a:p>
            <a:pPr marL="515749" lvl="1" indent="-257874" algn="l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The difference is the classification algorithm used after feature extraction.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1067" y="4179119"/>
            <a:ext cx="2545541" cy="124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LogisticRegression( max_iter=2000, class_weight=None, random_state=42 )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80834" y="3796411"/>
            <a:ext cx="1850953" cy="30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Output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45126" y="4247503"/>
            <a:ext cx="3553710" cy="156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Predicted priority</a:t>
            </a:r>
          </a:p>
          <a:p>
            <a:pPr marL="388805" lvl="1" indent="-194403" algn="l">
              <a:lnSpc>
                <a:spcPts val="2521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predict_proba() class probabilities</a:t>
            </a:r>
          </a:p>
          <a:p>
            <a:pPr marL="388805" lvl="1" indent="-194403" algn="l">
              <a:lnSpc>
                <a:spcPts val="2521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Confidence score</a:t>
            </a:r>
          </a:p>
          <a:p>
            <a:pPr algn="l">
              <a:lnSpc>
                <a:spcPts val="2521"/>
              </a:lnSpc>
            </a:pPr>
            <a:endParaRPr lang="en-US" sz="1800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3725401" y="6858423"/>
            <a:ext cx="4118778" cy="1017113"/>
            <a:chOff x="0" y="0"/>
            <a:chExt cx="796126" cy="196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6126" cy="196600"/>
            </a:xfrm>
            <a:custGeom>
              <a:avLst/>
              <a:gdLst/>
              <a:ahLst/>
              <a:cxnLst/>
              <a:rect l="l" t="t" r="r" b="b"/>
              <a:pathLst>
                <a:path w="796126" h="196600">
                  <a:moveTo>
                    <a:pt x="36712" y="0"/>
                  </a:moveTo>
                  <a:lnTo>
                    <a:pt x="759414" y="0"/>
                  </a:lnTo>
                  <a:cubicBezTo>
                    <a:pt x="769151" y="0"/>
                    <a:pt x="778489" y="3868"/>
                    <a:pt x="785373" y="10753"/>
                  </a:cubicBezTo>
                  <a:cubicBezTo>
                    <a:pt x="792258" y="17638"/>
                    <a:pt x="796126" y="26976"/>
                    <a:pt x="796126" y="36712"/>
                  </a:cubicBezTo>
                  <a:lnTo>
                    <a:pt x="796126" y="159887"/>
                  </a:lnTo>
                  <a:cubicBezTo>
                    <a:pt x="796126" y="169624"/>
                    <a:pt x="792258" y="178962"/>
                    <a:pt x="785373" y="185847"/>
                  </a:cubicBezTo>
                  <a:cubicBezTo>
                    <a:pt x="778489" y="192732"/>
                    <a:pt x="769151" y="196600"/>
                    <a:pt x="759414" y="196600"/>
                  </a:cubicBezTo>
                  <a:lnTo>
                    <a:pt x="36712" y="196600"/>
                  </a:lnTo>
                  <a:cubicBezTo>
                    <a:pt x="26976" y="196600"/>
                    <a:pt x="17638" y="192732"/>
                    <a:pt x="10753" y="185847"/>
                  </a:cubicBezTo>
                  <a:cubicBezTo>
                    <a:pt x="3868" y="178962"/>
                    <a:pt x="0" y="169624"/>
                    <a:pt x="0" y="159887"/>
                  </a:cubicBezTo>
                  <a:lnTo>
                    <a:pt x="0" y="36712"/>
                  </a:lnTo>
                  <a:cubicBezTo>
                    <a:pt x="0" y="26976"/>
                    <a:pt x="3868" y="17638"/>
                    <a:pt x="10753" y="10753"/>
                  </a:cubicBezTo>
                  <a:cubicBezTo>
                    <a:pt x="17638" y="3868"/>
                    <a:pt x="26976" y="0"/>
                    <a:pt x="3671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96126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models/ 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└──  naive_bayes.pkl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784790" y="6368655"/>
            <a:ext cx="1850953" cy="30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Saved Model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584132" y="4101328"/>
            <a:ext cx="4327214" cy="1017113"/>
            <a:chOff x="0" y="0"/>
            <a:chExt cx="836415" cy="196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6415" cy="196600"/>
            </a:xfrm>
            <a:custGeom>
              <a:avLst/>
              <a:gdLst/>
              <a:ahLst/>
              <a:cxnLst/>
              <a:rect l="l" t="t" r="r" b="b"/>
              <a:pathLst>
                <a:path w="836415" h="196600">
                  <a:moveTo>
                    <a:pt x="34944" y="0"/>
                  </a:moveTo>
                  <a:lnTo>
                    <a:pt x="801471" y="0"/>
                  </a:lnTo>
                  <a:cubicBezTo>
                    <a:pt x="820770" y="0"/>
                    <a:pt x="836415" y="15645"/>
                    <a:pt x="836415" y="34944"/>
                  </a:cubicBezTo>
                  <a:lnTo>
                    <a:pt x="836415" y="161656"/>
                  </a:lnTo>
                  <a:cubicBezTo>
                    <a:pt x="836415" y="170924"/>
                    <a:pt x="832734" y="179812"/>
                    <a:pt x="826180" y="186365"/>
                  </a:cubicBezTo>
                  <a:cubicBezTo>
                    <a:pt x="819627" y="192918"/>
                    <a:pt x="810739" y="196600"/>
                    <a:pt x="801471" y="196600"/>
                  </a:cubicBezTo>
                  <a:lnTo>
                    <a:pt x="34944" y="196600"/>
                  </a:lnTo>
                  <a:cubicBezTo>
                    <a:pt x="15645" y="196600"/>
                    <a:pt x="0" y="180955"/>
                    <a:pt x="0" y="161656"/>
                  </a:cubicBezTo>
                  <a:lnTo>
                    <a:pt x="0" y="34944"/>
                  </a:lnTo>
                  <a:cubicBezTo>
                    <a:pt x="0" y="15645"/>
                    <a:pt x="15645" y="0"/>
                    <a:pt x="34944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36415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models/ 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└──  logistic_regression.pkl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993227" y="3642239"/>
            <a:ext cx="1850953" cy="30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Saved Model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54335" y="6920535"/>
            <a:ext cx="3963035" cy="169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535" lvl="1" indent="-211268" algn="l">
              <a:lnSpc>
                <a:spcPts val="2739"/>
              </a:lnSpc>
              <a:buFont typeface="Arial"/>
              <a:buChar char="•"/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alpha = 1.0</a:t>
            </a:r>
          </a:p>
          <a:p>
            <a:pPr marL="422535" lvl="1" indent="-211268" algn="l">
              <a:lnSpc>
                <a:spcPts val="2739"/>
              </a:lnSpc>
              <a:buFont typeface="Arial"/>
              <a:buChar char="•"/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fit_prior = True</a:t>
            </a:r>
          </a:p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Uses the class distribution learned from training data</a:t>
            </a:r>
          </a:p>
          <a:p>
            <a:pPr algn="l">
              <a:lnSpc>
                <a:spcPts val="2739"/>
              </a:lnSpc>
            </a:pPr>
            <a:endParaRPr lang="en-US" sz="19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454390" y="6651954"/>
            <a:ext cx="1850953" cy="30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Output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18682" y="7103046"/>
            <a:ext cx="3553710" cy="124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805" lvl="1" indent="-194403" algn="l">
              <a:lnSpc>
                <a:spcPts val="2521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Predicted priority</a:t>
            </a:r>
          </a:p>
          <a:p>
            <a:pPr marL="388805" lvl="1" indent="-194403" algn="l">
              <a:lnSpc>
                <a:spcPts val="2521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Class probabilities</a:t>
            </a:r>
          </a:p>
          <a:p>
            <a:pPr marL="388805" lvl="1" indent="-194403" algn="l">
              <a:lnSpc>
                <a:spcPts val="2521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Confidence score</a:t>
            </a:r>
          </a:p>
          <a:p>
            <a:pPr algn="l">
              <a:lnSpc>
                <a:spcPts val="2521"/>
              </a:lnSpc>
            </a:pPr>
            <a:endParaRPr lang="en-US" sz="1800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11897343" y="7226009"/>
            <a:ext cx="1008895" cy="282491"/>
          </a:xfrm>
          <a:custGeom>
            <a:avLst/>
            <a:gdLst/>
            <a:ahLst/>
            <a:cxnLst/>
            <a:rect l="l" t="t" r="r" b="b"/>
            <a:pathLst>
              <a:path w="1008895" h="282491">
                <a:moveTo>
                  <a:pt x="0" y="0"/>
                </a:moveTo>
                <a:lnTo>
                  <a:pt x="1008895" y="0"/>
                </a:lnTo>
                <a:lnTo>
                  <a:pt x="1008895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6" name="Picture 35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861676" y="5486455"/>
            <a:ext cx="2171377" cy="690391"/>
            <a:chOff x="0" y="0"/>
            <a:chExt cx="419710" cy="1334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9710" cy="133447"/>
            </a:xfrm>
            <a:custGeom>
              <a:avLst/>
              <a:gdLst/>
              <a:ahLst/>
              <a:cxnLst/>
              <a:rect l="l" t="t" r="r" b="b"/>
              <a:pathLst>
                <a:path w="419710" h="133447">
                  <a:moveTo>
                    <a:pt x="66724" y="0"/>
                  </a:moveTo>
                  <a:lnTo>
                    <a:pt x="352986" y="0"/>
                  </a:lnTo>
                  <a:cubicBezTo>
                    <a:pt x="370682" y="0"/>
                    <a:pt x="387654" y="7030"/>
                    <a:pt x="400167" y="19543"/>
                  </a:cubicBezTo>
                  <a:cubicBezTo>
                    <a:pt x="412680" y="32056"/>
                    <a:pt x="419710" y="49027"/>
                    <a:pt x="419710" y="66724"/>
                  </a:cubicBezTo>
                  <a:lnTo>
                    <a:pt x="419710" y="66724"/>
                  </a:lnTo>
                  <a:cubicBezTo>
                    <a:pt x="419710" y="103574"/>
                    <a:pt x="389836" y="133447"/>
                    <a:pt x="352986" y="133447"/>
                  </a:cubicBezTo>
                  <a:lnTo>
                    <a:pt x="66724" y="133447"/>
                  </a:lnTo>
                  <a:cubicBezTo>
                    <a:pt x="49027" y="133447"/>
                    <a:pt x="32056" y="126417"/>
                    <a:pt x="19543" y="113904"/>
                  </a:cubicBezTo>
                  <a:cubicBezTo>
                    <a:pt x="7030" y="101391"/>
                    <a:pt x="0" y="84420"/>
                    <a:pt x="0" y="66724"/>
                  </a:cubicBezTo>
                  <a:lnTo>
                    <a:pt x="0" y="66724"/>
                  </a:lnTo>
                  <a:cubicBezTo>
                    <a:pt x="0" y="49027"/>
                    <a:pt x="7030" y="32056"/>
                    <a:pt x="19543" y="19543"/>
                  </a:cubicBezTo>
                  <a:cubicBezTo>
                    <a:pt x="32056" y="7030"/>
                    <a:pt x="49027" y="0"/>
                    <a:pt x="66724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9710" cy="171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r>
                <a:rPr lang="en-US" sz="16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Vital Features Used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204611" y="6294212"/>
            <a:ext cx="1008895" cy="282491"/>
          </a:xfrm>
          <a:custGeom>
            <a:avLst/>
            <a:gdLst/>
            <a:ahLst/>
            <a:cxnLst/>
            <a:rect l="l" t="t" r="r" b="b"/>
            <a:pathLst>
              <a:path w="1008895" h="282491">
                <a:moveTo>
                  <a:pt x="0" y="0"/>
                </a:moveTo>
                <a:lnTo>
                  <a:pt x="1008895" y="0"/>
                </a:lnTo>
                <a:lnTo>
                  <a:pt x="1008895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826715" y="5169064"/>
            <a:ext cx="4538858" cy="32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1 — Missing Value Imputation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60762" y="701099"/>
            <a:ext cx="11228195" cy="119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Model Development</a:t>
            </a:r>
          </a:p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TF-IDF + Structured Vitals + Logistic Regression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9177" y="2397991"/>
            <a:ext cx="15116610" cy="406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49" lvl="1" indent="-257874" algn="l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third model adds structured vital signs to the TF-IDF features.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4249" y="3308864"/>
            <a:ext cx="1850953" cy="30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Why add vitals?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676" y="6243521"/>
            <a:ext cx="2597432" cy="169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• Systolic BP </a:t>
            </a:r>
          </a:p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• Diastolic BP </a:t>
            </a:r>
          </a:p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• Heart Rate </a:t>
            </a:r>
          </a:p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• Temperature </a:t>
            </a:r>
          </a:p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• Oxygen Saturation</a:t>
            </a:r>
          </a:p>
        </p:txBody>
      </p:sp>
      <p:sp>
        <p:nvSpPr>
          <p:cNvPr id="14" name="Freeform 14"/>
          <p:cNvSpPr/>
          <p:nvPr/>
        </p:nvSpPr>
        <p:spPr>
          <a:xfrm rot="-999522">
            <a:off x="1373997" y="2964391"/>
            <a:ext cx="485431" cy="802366"/>
          </a:xfrm>
          <a:custGeom>
            <a:avLst/>
            <a:gdLst/>
            <a:ahLst/>
            <a:cxnLst/>
            <a:rect l="l" t="t" r="r" b="b"/>
            <a:pathLst>
              <a:path w="485431" h="802366">
                <a:moveTo>
                  <a:pt x="0" y="0"/>
                </a:moveTo>
                <a:lnTo>
                  <a:pt x="485431" y="0"/>
                </a:lnTo>
                <a:lnTo>
                  <a:pt x="485431" y="802366"/>
                </a:lnTo>
                <a:lnTo>
                  <a:pt x="0" y="802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965209" y="2971670"/>
            <a:ext cx="7643688" cy="30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Clinical urgency is not always expressed through words alone.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5209" y="3443155"/>
            <a:ext cx="9128585" cy="935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For example: </a:t>
            </a:r>
            <a:r>
              <a:rPr lang="en-US" sz="18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"patient feels weak"  </a:t>
            </a:r>
            <a:r>
              <a:rPr lang="en-US" sz="18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and  </a:t>
            </a:r>
            <a:r>
              <a:rPr lang="en-US" sz="18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"patient feels weak, HR 136, SpO₂ 86%"</a:t>
            </a: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000000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000000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826715" y="5838092"/>
            <a:ext cx="4538858" cy="333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SimpleImputer(strategy="median")</a:t>
            </a:r>
          </a:p>
          <a:p>
            <a:pPr algn="l">
              <a:lnSpc>
                <a:spcPts val="2459"/>
              </a:lnSpc>
            </a:pPr>
            <a:endParaRPr lang="en-US" sz="17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If a note does not contain a particular vital, we don't pass NaN to the model. </a:t>
            </a:r>
          </a:p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Instead ,</a:t>
            </a:r>
          </a:p>
          <a:p>
            <a:pPr algn="ctr">
              <a:lnSpc>
                <a:spcPts val="2459"/>
              </a:lnSpc>
            </a:pPr>
            <a:endParaRPr lang="en-US" sz="17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ctr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Training-set median </a:t>
            </a:r>
          </a:p>
          <a:p>
            <a:pPr algn="ctr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↓</a:t>
            </a:r>
          </a:p>
          <a:p>
            <a:pPr algn="ctr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Numeric value</a:t>
            </a:r>
          </a:p>
          <a:p>
            <a:pPr algn="l">
              <a:lnSpc>
                <a:spcPts val="2459"/>
              </a:lnSpc>
            </a:pPr>
            <a:endParaRPr lang="en-US" sz="17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2459"/>
              </a:lnSpc>
            </a:pPr>
            <a:endParaRPr lang="en-US" sz="17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814004" y="5169064"/>
            <a:ext cx="4538858" cy="32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2 — Standard Scaling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8667" y="5831749"/>
            <a:ext cx="4538858" cy="364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five vital features have different numerical ranges:</a:t>
            </a:r>
          </a:p>
          <a:p>
            <a:pPr algn="l">
              <a:lnSpc>
                <a:spcPts val="2459"/>
              </a:lnSpc>
            </a:pPr>
            <a:endParaRPr lang="en-US" sz="17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Heart Rate       → around 60–150</a:t>
            </a:r>
          </a:p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Temperature      → around 97–104</a:t>
            </a:r>
          </a:p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Oxygen Saturation → around 80–100</a:t>
            </a:r>
          </a:p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Blood Pressure   → different scale</a:t>
            </a:r>
          </a:p>
          <a:p>
            <a:pPr algn="l">
              <a:lnSpc>
                <a:spcPts val="2459"/>
              </a:lnSpc>
            </a:pPr>
            <a:endParaRPr lang="en-US" sz="17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2459"/>
              </a:lnSpc>
            </a:pPr>
            <a:r>
              <a:rPr lang="en-US" sz="17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Scaling puts them on a comparable numerical scale before combining them with TF-IDF features.</a:t>
            </a:r>
          </a:p>
          <a:p>
            <a:pPr algn="l">
              <a:lnSpc>
                <a:spcPts val="2459"/>
              </a:lnSpc>
            </a:pPr>
            <a:endParaRPr lang="en-US" sz="17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385590" y="5169064"/>
            <a:ext cx="3185056" cy="32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Step 3 — Combine 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85590" y="5905128"/>
            <a:ext cx="3185056" cy="6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hstack([ tfidf_features, scaled_vitals ])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85590" y="6824323"/>
            <a:ext cx="3567568" cy="135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So the final model receives:</a:t>
            </a:r>
          </a:p>
          <a:p>
            <a:pPr algn="l">
              <a:lnSpc>
                <a:spcPts val="2739"/>
              </a:lnSpc>
            </a:pPr>
            <a:r>
              <a:rPr lang="en-US" sz="1957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TF-IDF features + 5 structured vital features</a:t>
            </a:r>
          </a:p>
          <a:p>
            <a:pPr algn="l">
              <a:lnSpc>
                <a:spcPts val="2739"/>
              </a:lnSpc>
            </a:pPr>
            <a:endParaRPr lang="en-US" sz="1957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3093794" y="2532033"/>
            <a:ext cx="4859363" cy="1717474"/>
            <a:chOff x="0" y="0"/>
            <a:chExt cx="999869" cy="3533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9869" cy="353390"/>
            </a:xfrm>
            <a:custGeom>
              <a:avLst/>
              <a:gdLst/>
              <a:ahLst/>
              <a:cxnLst/>
              <a:rect l="l" t="t" r="r" b="b"/>
              <a:pathLst>
                <a:path w="999869" h="353390">
                  <a:moveTo>
                    <a:pt x="31117" y="0"/>
                  </a:moveTo>
                  <a:lnTo>
                    <a:pt x="968752" y="0"/>
                  </a:lnTo>
                  <a:cubicBezTo>
                    <a:pt x="977005" y="0"/>
                    <a:pt x="984919" y="3278"/>
                    <a:pt x="990755" y="9114"/>
                  </a:cubicBezTo>
                  <a:cubicBezTo>
                    <a:pt x="996591" y="14950"/>
                    <a:pt x="999869" y="22864"/>
                    <a:pt x="999869" y="31117"/>
                  </a:cubicBezTo>
                  <a:lnTo>
                    <a:pt x="999869" y="322273"/>
                  </a:lnTo>
                  <a:cubicBezTo>
                    <a:pt x="999869" y="330525"/>
                    <a:pt x="996591" y="338440"/>
                    <a:pt x="990755" y="344276"/>
                  </a:cubicBezTo>
                  <a:cubicBezTo>
                    <a:pt x="984919" y="350111"/>
                    <a:pt x="977005" y="353390"/>
                    <a:pt x="968752" y="353390"/>
                  </a:cubicBezTo>
                  <a:lnTo>
                    <a:pt x="31117" y="353390"/>
                  </a:lnTo>
                  <a:cubicBezTo>
                    <a:pt x="22864" y="353390"/>
                    <a:pt x="14950" y="350111"/>
                    <a:pt x="9114" y="344276"/>
                  </a:cubicBezTo>
                  <a:cubicBezTo>
                    <a:pt x="3278" y="338440"/>
                    <a:pt x="0" y="330525"/>
                    <a:pt x="0" y="322273"/>
                  </a:cubicBezTo>
                  <a:lnTo>
                    <a:pt x="0" y="31117"/>
                  </a:lnTo>
                  <a:cubicBezTo>
                    <a:pt x="0" y="22864"/>
                    <a:pt x="3278" y="14950"/>
                    <a:pt x="9114" y="9114"/>
                  </a:cubicBezTo>
                  <a:cubicBezTo>
                    <a:pt x="14950" y="3278"/>
                    <a:pt x="22864" y="0"/>
                    <a:pt x="31117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99869" cy="401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models/ 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└──  logistic_regression_vitals.pkl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├── imputer.pkl</a:t>
              </a:r>
            </a:p>
            <a:p>
              <a:pPr algn="l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└── scaler.pkl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363223" y="2193189"/>
            <a:ext cx="1738782" cy="28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Saved Model</a:t>
            </a:r>
          </a:p>
        </p:txBody>
      </p:sp>
      <p:pic>
        <p:nvPicPr>
          <p:cNvPr id="29" name="Picture 28" descr="logo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396477" y="7549555"/>
            <a:ext cx="11335385" cy="2478754"/>
          </a:xfrm>
          <a:custGeom>
            <a:avLst/>
            <a:gdLst/>
            <a:ahLst/>
            <a:cxnLst/>
            <a:rect l="l" t="t" r="r" b="b"/>
            <a:pathLst>
              <a:path w="11335385" h="2478754">
                <a:moveTo>
                  <a:pt x="0" y="0"/>
                </a:moveTo>
                <a:lnTo>
                  <a:pt x="11335385" y="0"/>
                </a:lnTo>
                <a:lnTo>
                  <a:pt x="11335385" y="2478755"/>
                </a:lnTo>
                <a:lnTo>
                  <a:pt x="0" y="2478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58173" y="1435463"/>
            <a:ext cx="8011992" cy="4237313"/>
          </a:xfrm>
          <a:custGeom>
            <a:avLst/>
            <a:gdLst/>
            <a:ahLst/>
            <a:cxnLst/>
            <a:rect l="l" t="t" r="r" b="b"/>
            <a:pathLst>
              <a:path w="8011992" h="4237313">
                <a:moveTo>
                  <a:pt x="0" y="0"/>
                </a:moveTo>
                <a:lnTo>
                  <a:pt x="8011992" y="0"/>
                </a:lnTo>
                <a:lnTo>
                  <a:pt x="8011992" y="4237313"/>
                </a:lnTo>
                <a:lnTo>
                  <a:pt x="0" y="4237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60762" y="536902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Model Evaluation &amp; 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9177" y="1701416"/>
            <a:ext cx="15116610" cy="42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338" lvl="1" indent="-268669" algn="l">
              <a:lnSpc>
                <a:spcPts val="3484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Evaluation on Held-Out Test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38091" y="2309817"/>
            <a:ext cx="3873109" cy="245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0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dataset was split into:</a:t>
            </a:r>
          </a:p>
          <a:p>
            <a:pPr algn="l">
              <a:lnSpc>
                <a:spcPts val="2801"/>
              </a:lnSpc>
            </a:pPr>
            <a:endParaRPr lang="en-US" sz="2000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2801"/>
              </a:lnSpc>
            </a:pPr>
            <a:r>
              <a:rPr lang="en-US" sz="20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2,100 Total Notes</a:t>
            </a:r>
          </a:p>
          <a:p>
            <a:pPr algn="l">
              <a:lnSpc>
                <a:spcPts val="2801"/>
              </a:lnSpc>
            </a:pPr>
            <a:r>
              <a:rPr lang="en-US" sz="20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       ↓</a:t>
            </a:r>
          </a:p>
          <a:p>
            <a:pPr algn="l">
              <a:lnSpc>
                <a:spcPts val="2801"/>
              </a:lnSpc>
            </a:pPr>
            <a:r>
              <a:rPr lang="en-US" sz="20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1,680 Training Notes</a:t>
            </a:r>
          </a:p>
          <a:p>
            <a:pPr algn="l">
              <a:lnSpc>
                <a:spcPts val="2801"/>
              </a:lnSpc>
            </a:pPr>
            <a:r>
              <a:rPr lang="en-US" sz="20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420 Held-Out Test Notes</a:t>
            </a:r>
          </a:p>
          <a:p>
            <a:pPr algn="l">
              <a:lnSpc>
                <a:spcPts val="2801"/>
              </a:lnSpc>
            </a:pPr>
            <a:endParaRPr lang="en-US" sz="2000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25046" y="5192695"/>
            <a:ext cx="5871431" cy="297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models were evaluated using: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Accuracy — overall correct predictions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Precision — correctness of predicted classes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Recall — how many actual cases were identified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F1 Score — balance between precision and recall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Confusion Matrix — detailed class-wise prediction errors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High-Class Recall — specifically monitored because missing a High-priority case is important</a:t>
            </a:r>
          </a:p>
          <a:p>
            <a:pPr algn="l">
              <a:lnSpc>
                <a:spcPts val="2399"/>
              </a:lnSpc>
            </a:pPr>
            <a:endParaRPr lang="en-US" sz="1713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862676" y="5800152"/>
            <a:ext cx="10402986" cy="1749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000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TF-IDF + Vitals Logistic Regression model achieved 95.71% accuracy and 97.73% High-class recall on the held-out synthetic test set.</a:t>
            </a:r>
          </a:p>
          <a:p>
            <a:pPr algn="l">
              <a:lnSpc>
                <a:spcPts val="2801"/>
              </a:lnSpc>
            </a:pPr>
            <a:endParaRPr lang="en-US" sz="2000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2801"/>
              </a:lnSpc>
            </a:pPr>
            <a:r>
              <a:rPr lang="en-US" sz="20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High → Low errors: 0 in this test set</a:t>
            </a:r>
          </a:p>
          <a:p>
            <a:pPr algn="l">
              <a:lnSpc>
                <a:spcPts val="2801"/>
              </a:lnSpc>
            </a:pPr>
            <a:endParaRPr lang="en-US" sz="2000" b="1">
              <a:solidFill>
                <a:srgbClr val="000000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pic>
        <p:nvPicPr>
          <p:cNvPr id="14" name="Picture 13" descr="logo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2030041" y="723900"/>
            <a:ext cx="2472275" cy="955474"/>
            <a:chOff x="0" y="0"/>
            <a:chExt cx="508699" cy="196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699" cy="196600"/>
            </a:xfrm>
            <a:custGeom>
              <a:avLst/>
              <a:gdLst/>
              <a:ahLst/>
              <a:cxnLst/>
              <a:rect l="l" t="t" r="r" b="b"/>
              <a:pathLst>
                <a:path w="508699" h="196600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135438"/>
                  </a:lnTo>
                  <a:cubicBezTo>
                    <a:pt x="508699" y="169216"/>
                    <a:pt x="481315" y="196600"/>
                    <a:pt x="447537" y="196600"/>
                  </a:cubicBezTo>
                  <a:lnTo>
                    <a:pt x="61162" y="196600"/>
                  </a:lnTo>
                  <a:cubicBezTo>
                    <a:pt x="27383" y="196600"/>
                    <a:pt x="0" y="169216"/>
                    <a:pt x="0" y="135438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8699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New Clinical Intake Note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2757297" y="2020566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4" y="0"/>
                </a:lnTo>
                <a:lnTo>
                  <a:pt x="947754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995036" y="2627129"/>
            <a:ext cx="2472275" cy="741426"/>
            <a:chOff x="0" y="0"/>
            <a:chExt cx="508699" cy="1525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 FastAPI API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99674" y="3322454"/>
            <a:ext cx="2264498" cy="427493"/>
            <a:chOff x="0" y="0"/>
            <a:chExt cx="524436" cy="99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4436" cy="99003"/>
            </a:xfrm>
            <a:custGeom>
              <a:avLst/>
              <a:gdLst/>
              <a:ahLst/>
              <a:cxnLst/>
              <a:rect l="l" t="t" r="r" b="b"/>
              <a:pathLst>
                <a:path w="524436" h="99003">
                  <a:moveTo>
                    <a:pt x="49502" y="0"/>
                  </a:moveTo>
                  <a:lnTo>
                    <a:pt x="474934" y="0"/>
                  </a:lnTo>
                  <a:cubicBezTo>
                    <a:pt x="502273" y="0"/>
                    <a:pt x="524436" y="22163"/>
                    <a:pt x="524436" y="49502"/>
                  </a:cubicBezTo>
                  <a:lnTo>
                    <a:pt x="524436" y="49502"/>
                  </a:lnTo>
                  <a:cubicBezTo>
                    <a:pt x="524436" y="62630"/>
                    <a:pt x="519221" y="75221"/>
                    <a:pt x="509937" y="84504"/>
                  </a:cubicBezTo>
                  <a:cubicBezTo>
                    <a:pt x="500654" y="93788"/>
                    <a:pt x="488063" y="99003"/>
                    <a:pt x="474934" y="99003"/>
                  </a:cubicBezTo>
                  <a:lnTo>
                    <a:pt x="49502" y="99003"/>
                  </a:lnTo>
                  <a:cubicBezTo>
                    <a:pt x="22163" y="99003"/>
                    <a:pt x="0" y="76841"/>
                    <a:pt x="0" y="49502"/>
                  </a:cubicBezTo>
                  <a:lnTo>
                    <a:pt x="0" y="49502"/>
                  </a:lnTo>
                  <a:cubicBezTo>
                    <a:pt x="0" y="22163"/>
                    <a:pt x="22163" y="0"/>
                    <a:pt x="49502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24436" cy="12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8-Stage Preprocessing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1" y="4741913"/>
            <a:ext cx="3108589" cy="741426"/>
            <a:chOff x="0" y="0"/>
            <a:chExt cx="639627" cy="1525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9627" cy="152557"/>
            </a:xfrm>
            <a:custGeom>
              <a:avLst/>
              <a:gdLst/>
              <a:ahLst/>
              <a:cxnLst/>
              <a:rect l="l" t="t" r="r" b="b"/>
              <a:pathLst>
                <a:path w="639627" h="152557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103914"/>
                  </a:lnTo>
                  <a:cubicBezTo>
                    <a:pt x="639627" y="130779"/>
                    <a:pt x="617849" y="152557"/>
                    <a:pt x="590985" y="152557"/>
                  </a:cubicBezTo>
                  <a:lnTo>
                    <a:pt x="48642" y="152557"/>
                  </a:lnTo>
                  <a:cubicBezTo>
                    <a:pt x="35742" y="152557"/>
                    <a:pt x="23369" y="147432"/>
                    <a:pt x="14247" y="138310"/>
                  </a:cubicBezTo>
                  <a:cubicBezTo>
                    <a:pt x="5125" y="129188"/>
                    <a:pt x="0" y="116815"/>
                    <a:pt x="0" y="103914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39627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TF-IDF Vectorization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99491" y="6832387"/>
            <a:ext cx="3472582" cy="2395089"/>
            <a:chOff x="0" y="0"/>
            <a:chExt cx="714523" cy="4928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4523" cy="492817"/>
            </a:xfrm>
            <a:custGeom>
              <a:avLst/>
              <a:gdLst/>
              <a:ahLst/>
              <a:cxnLst/>
              <a:rect l="l" t="t" r="r" b="b"/>
              <a:pathLst>
                <a:path w="714523" h="492817">
                  <a:moveTo>
                    <a:pt x="43544" y="0"/>
                  </a:moveTo>
                  <a:lnTo>
                    <a:pt x="670979" y="0"/>
                  </a:lnTo>
                  <a:cubicBezTo>
                    <a:pt x="695028" y="0"/>
                    <a:pt x="714523" y="19495"/>
                    <a:pt x="714523" y="43544"/>
                  </a:cubicBezTo>
                  <a:lnTo>
                    <a:pt x="714523" y="449273"/>
                  </a:lnTo>
                  <a:cubicBezTo>
                    <a:pt x="714523" y="473322"/>
                    <a:pt x="695028" y="492817"/>
                    <a:pt x="670979" y="492817"/>
                  </a:cubicBezTo>
                  <a:lnTo>
                    <a:pt x="43544" y="492817"/>
                  </a:lnTo>
                  <a:cubicBezTo>
                    <a:pt x="19495" y="492817"/>
                    <a:pt x="0" y="473322"/>
                    <a:pt x="0" y="449273"/>
                  </a:cubicBezTo>
                  <a:lnTo>
                    <a:pt x="0" y="43544"/>
                  </a:lnTo>
                  <a:cubicBezTo>
                    <a:pt x="0" y="19495"/>
                    <a:pt x="19495" y="0"/>
                    <a:pt x="43544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14523" cy="521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4"/>
                </a:lnSpc>
              </a:pPr>
              <a:r>
                <a:rPr lang="en-US" sz="18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 Model Inference</a:t>
              </a:r>
            </a:p>
            <a:p>
              <a:pPr algn="ctr">
                <a:lnSpc>
                  <a:spcPts val="2874"/>
                </a:lnSpc>
              </a:pPr>
              <a:endParaRPr lang="en-US" sz="1852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endParaRPr>
            </a:p>
            <a:p>
              <a:pPr algn="l">
                <a:lnSpc>
                  <a:spcPts val="2034"/>
                </a:lnSpc>
              </a:pPr>
              <a:r>
                <a:rPr lang="en-US" sz="14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1. TF-IDF → Logistic Regression</a:t>
              </a:r>
            </a:p>
            <a:p>
              <a:pPr algn="l">
                <a:lnSpc>
                  <a:spcPts val="2034"/>
                </a:lnSpc>
              </a:pPr>
              <a:endParaRPr lang="en-US" sz="1452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endParaRPr>
            </a:p>
            <a:p>
              <a:pPr algn="l">
                <a:lnSpc>
                  <a:spcPts val="2034"/>
                </a:lnSpc>
              </a:pPr>
              <a:r>
                <a:rPr lang="en-US" sz="14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2. TF-IDF → Multinomial Naive Bayes</a:t>
              </a:r>
            </a:p>
            <a:p>
              <a:pPr algn="l">
                <a:lnSpc>
                  <a:spcPts val="2034"/>
                </a:lnSpc>
              </a:pPr>
              <a:endParaRPr lang="en-US" sz="1452">
                <a:solidFill>
                  <a:srgbClr val="FFFFFF"/>
                </a:solidFill>
                <a:latin typeface="Monda"/>
                <a:ea typeface="Monda"/>
                <a:cs typeface="Monda"/>
                <a:sym typeface="Monda"/>
              </a:endParaRPr>
            </a:p>
            <a:p>
              <a:pPr algn="l">
                <a:lnSpc>
                  <a:spcPts val="2034"/>
                </a:lnSpc>
              </a:pPr>
              <a:r>
                <a:rPr lang="en-US" sz="14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3. TF-IDF + Vitals → Logistic Regression 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rot="7271360">
            <a:off x="1480130" y="4082594"/>
            <a:ext cx="1029813" cy="288348"/>
          </a:xfrm>
          <a:custGeom>
            <a:avLst/>
            <a:gdLst/>
            <a:ahLst/>
            <a:cxnLst/>
            <a:rect l="l" t="t" r="r" b="b"/>
            <a:pathLst>
              <a:path w="1029813" h="288348">
                <a:moveTo>
                  <a:pt x="0" y="0"/>
                </a:moveTo>
                <a:lnTo>
                  <a:pt x="1029813" y="0"/>
                </a:lnTo>
                <a:lnTo>
                  <a:pt x="1029813" y="288348"/>
                </a:lnTo>
                <a:lnTo>
                  <a:pt x="0" y="288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4041998">
            <a:off x="2187196" y="5939010"/>
            <a:ext cx="1109121" cy="310554"/>
          </a:xfrm>
          <a:custGeom>
            <a:avLst/>
            <a:gdLst/>
            <a:ahLst/>
            <a:cxnLst/>
            <a:rect l="l" t="t" r="r" b="b"/>
            <a:pathLst>
              <a:path w="1109121" h="310554">
                <a:moveTo>
                  <a:pt x="0" y="0"/>
                </a:moveTo>
                <a:lnTo>
                  <a:pt x="1109121" y="0"/>
                </a:lnTo>
                <a:lnTo>
                  <a:pt x="1109121" y="310554"/>
                </a:lnTo>
                <a:lnTo>
                  <a:pt x="0" y="310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1042199">
            <a:off x="5885364" y="8758643"/>
            <a:ext cx="1108652" cy="310423"/>
          </a:xfrm>
          <a:custGeom>
            <a:avLst/>
            <a:gdLst/>
            <a:ahLst/>
            <a:cxnLst/>
            <a:rect l="l" t="t" r="r" b="b"/>
            <a:pathLst>
              <a:path w="1108652" h="310423">
                <a:moveTo>
                  <a:pt x="0" y="0"/>
                </a:moveTo>
                <a:lnTo>
                  <a:pt x="1108652" y="0"/>
                </a:lnTo>
                <a:lnTo>
                  <a:pt x="1108652" y="310423"/>
                </a:lnTo>
                <a:lnTo>
                  <a:pt x="0" y="31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7081749" y="8856764"/>
            <a:ext cx="3108589" cy="741426"/>
            <a:chOff x="0" y="0"/>
            <a:chExt cx="639627" cy="1525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9627" cy="152557"/>
            </a:xfrm>
            <a:custGeom>
              <a:avLst/>
              <a:gdLst/>
              <a:ahLst/>
              <a:cxnLst/>
              <a:rect l="l" t="t" r="r" b="b"/>
              <a:pathLst>
                <a:path w="639627" h="152557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103914"/>
                  </a:lnTo>
                  <a:cubicBezTo>
                    <a:pt x="639627" y="130779"/>
                    <a:pt x="617849" y="152557"/>
                    <a:pt x="590985" y="152557"/>
                  </a:cubicBezTo>
                  <a:lnTo>
                    <a:pt x="48642" y="152557"/>
                  </a:lnTo>
                  <a:cubicBezTo>
                    <a:pt x="35742" y="152557"/>
                    <a:pt x="23369" y="147432"/>
                    <a:pt x="14247" y="138310"/>
                  </a:cubicBezTo>
                  <a:cubicBezTo>
                    <a:pt x="5125" y="129188"/>
                    <a:pt x="0" y="116815"/>
                    <a:pt x="0" y="103914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39627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 High / Medium / Low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809565" y="135373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Inference Pipeline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5112" y="3886760"/>
            <a:ext cx="1724930" cy="34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9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Cleaned data</a:t>
            </a:r>
          </a:p>
        </p:txBody>
      </p:sp>
      <p:sp>
        <p:nvSpPr>
          <p:cNvPr id="28" name="Freeform 28"/>
          <p:cNvSpPr/>
          <p:nvPr/>
        </p:nvSpPr>
        <p:spPr>
          <a:xfrm rot="3640547">
            <a:off x="3978063" y="4077910"/>
            <a:ext cx="1063274" cy="297717"/>
          </a:xfrm>
          <a:custGeom>
            <a:avLst/>
            <a:gdLst/>
            <a:ahLst/>
            <a:cxnLst/>
            <a:rect l="l" t="t" r="r" b="b"/>
            <a:pathLst>
              <a:path w="1063274" h="297717">
                <a:moveTo>
                  <a:pt x="0" y="0"/>
                </a:moveTo>
                <a:lnTo>
                  <a:pt x="1063274" y="0"/>
                </a:lnTo>
                <a:lnTo>
                  <a:pt x="1063274" y="297717"/>
                </a:lnTo>
                <a:lnTo>
                  <a:pt x="0" y="297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4714760" y="3886760"/>
            <a:ext cx="1724930" cy="34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988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Vital Signs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310011" y="4803294"/>
            <a:ext cx="3108589" cy="741426"/>
            <a:chOff x="0" y="0"/>
            <a:chExt cx="639627" cy="15255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9627" cy="152557"/>
            </a:xfrm>
            <a:custGeom>
              <a:avLst/>
              <a:gdLst/>
              <a:ahLst/>
              <a:cxnLst/>
              <a:rect l="l" t="t" r="r" b="b"/>
              <a:pathLst>
                <a:path w="639627" h="152557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103914"/>
                  </a:lnTo>
                  <a:cubicBezTo>
                    <a:pt x="639627" y="130779"/>
                    <a:pt x="617849" y="152557"/>
                    <a:pt x="590985" y="152557"/>
                  </a:cubicBezTo>
                  <a:lnTo>
                    <a:pt x="48642" y="152557"/>
                  </a:lnTo>
                  <a:cubicBezTo>
                    <a:pt x="35742" y="152557"/>
                    <a:pt x="23369" y="147432"/>
                    <a:pt x="14247" y="138310"/>
                  </a:cubicBezTo>
                  <a:cubicBezTo>
                    <a:pt x="5125" y="129188"/>
                    <a:pt x="0" y="116815"/>
                    <a:pt x="0" y="103914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639627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Imputation + Scaling</a:t>
              </a:r>
            </a:p>
          </p:txBody>
        </p:sp>
      </p:grpSp>
      <p:sp>
        <p:nvSpPr>
          <p:cNvPr id="33" name="Freeform 33"/>
          <p:cNvSpPr/>
          <p:nvPr/>
        </p:nvSpPr>
        <p:spPr>
          <a:xfrm rot="6740593">
            <a:off x="4702024" y="5961051"/>
            <a:ext cx="1109121" cy="310554"/>
          </a:xfrm>
          <a:custGeom>
            <a:avLst/>
            <a:gdLst/>
            <a:ahLst/>
            <a:cxnLst/>
            <a:rect l="l" t="t" r="r" b="b"/>
            <a:pathLst>
              <a:path w="1109121" h="310554">
                <a:moveTo>
                  <a:pt x="0" y="0"/>
                </a:moveTo>
                <a:lnTo>
                  <a:pt x="1109122" y="0"/>
                </a:lnTo>
                <a:lnTo>
                  <a:pt x="1109122" y="310554"/>
                </a:lnTo>
                <a:lnTo>
                  <a:pt x="0" y="310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7925840" y="9598190"/>
            <a:ext cx="2264498" cy="427493"/>
            <a:chOff x="0" y="0"/>
            <a:chExt cx="524436" cy="990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24436" cy="99003"/>
            </a:xfrm>
            <a:custGeom>
              <a:avLst/>
              <a:gdLst/>
              <a:ahLst/>
              <a:cxnLst/>
              <a:rect l="l" t="t" r="r" b="b"/>
              <a:pathLst>
                <a:path w="524436" h="99003">
                  <a:moveTo>
                    <a:pt x="49502" y="0"/>
                  </a:moveTo>
                  <a:lnTo>
                    <a:pt x="474934" y="0"/>
                  </a:lnTo>
                  <a:cubicBezTo>
                    <a:pt x="502273" y="0"/>
                    <a:pt x="524436" y="22163"/>
                    <a:pt x="524436" y="49502"/>
                  </a:cubicBezTo>
                  <a:lnTo>
                    <a:pt x="524436" y="49502"/>
                  </a:lnTo>
                  <a:cubicBezTo>
                    <a:pt x="524436" y="62630"/>
                    <a:pt x="519221" y="75221"/>
                    <a:pt x="509937" y="84504"/>
                  </a:cubicBezTo>
                  <a:cubicBezTo>
                    <a:pt x="500654" y="93788"/>
                    <a:pt x="488063" y="99003"/>
                    <a:pt x="474934" y="99003"/>
                  </a:cubicBezTo>
                  <a:lnTo>
                    <a:pt x="49502" y="99003"/>
                  </a:lnTo>
                  <a:cubicBezTo>
                    <a:pt x="22163" y="99003"/>
                    <a:pt x="0" y="76841"/>
                    <a:pt x="0" y="49502"/>
                  </a:cubicBezTo>
                  <a:lnTo>
                    <a:pt x="0" y="49502"/>
                  </a:lnTo>
                  <a:cubicBezTo>
                    <a:pt x="0" y="22163"/>
                    <a:pt x="22163" y="0"/>
                    <a:pt x="49502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524436" cy="12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Priority + Confidence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8485400" y="971550"/>
            <a:ext cx="9333249" cy="8840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0"/>
              </a:lnSpc>
            </a:pPr>
            <a:r>
              <a:rPr lang="en-US" sz="2964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What happens during inference?</a:t>
            </a:r>
          </a:p>
          <a:p>
            <a:pPr algn="l">
              <a:lnSpc>
                <a:spcPts val="4150"/>
              </a:lnSpc>
            </a:pPr>
            <a:endParaRPr lang="en-US" sz="2964" b="1">
              <a:solidFill>
                <a:srgbClr val="000000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1. Same preprocessing as training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new note goes through the same 8 preprocessing stages used during model development.</a:t>
            </a:r>
          </a:p>
          <a:p>
            <a:pPr algn="l">
              <a:lnSpc>
                <a:spcPts val="3750"/>
              </a:lnSpc>
            </a:pPr>
            <a:endParaRPr lang="en-US" sz="2679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2. TF-IDF transformation</a:t>
            </a:r>
          </a:p>
          <a:p>
            <a:pPr marL="578427" lvl="1" indent="-289214" algn="l">
              <a:lnSpc>
                <a:spcPts val="3750"/>
              </a:lnSpc>
              <a:buFont typeface="Arial"/>
              <a:buChar char="•"/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vectorizer.transform([cleaned_note])</a:t>
            </a:r>
          </a:p>
          <a:p>
            <a:pPr marL="578427" lvl="1" indent="-289214" algn="l">
              <a:lnSpc>
                <a:spcPts val="3750"/>
              </a:lnSpc>
              <a:buFont typeface="Arial"/>
              <a:buChar char="•"/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saved vectorizer is only used to transform the new note.</a:t>
            </a:r>
          </a:p>
          <a:p>
            <a:pPr marL="578427" lvl="1" indent="-289214" algn="l">
              <a:lnSpc>
                <a:spcPts val="3750"/>
              </a:lnSpc>
              <a:buFont typeface="Arial"/>
              <a:buChar char="•"/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It is never fitted again during inference.</a:t>
            </a:r>
          </a:p>
          <a:p>
            <a:pPr algn="l">
              <a:lnSpc>
                <a:spcPts val="3750"/>
              </a:lnSpc>
            </a:pPr>
            <a:endParaRPr lang="en-US" sz="2679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3 Prediction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model.predict()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model.predict_proba()</a:t>
            </a:r>
          </a:p>
          <a:p>
            <a:pPr algn="l">
              <a:lnSpc>
                <a:spcPts val="3350"/>
              </a:lnSpc>
            </a:pPr>
            <a:endParaRPr lang="en-US" sz="2679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3350"/>
              </a:lnSpc>
            </a:pPr>
            <a:endParaRPr lang="en-US" sz="2679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3350"/>
              </a:lnSpc>
            </a:pPr>
            <a:endParaRPr lang="en-US" sz="2679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3350"/>
              </a:lnSpc>
            </a:pPr>
            <a:endParaRPr lang="en-US" sz="2679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990563" y="6624348"/>
            <a:ext cx="5871431" cy="267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The system returns: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Priority: High / Medium / Low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Confidence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Probability for each class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Extracted vital signs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Cleaned note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Preprocessing audit</a:t>
            </a:r>
          </a:p>
          <a:p>
            <a:pPr marL="370031" lvl="1" indent="-185016" algn="l">
              <a:lnSpc>
                <a:spcPts val="2399"/>
              </a:lnSpc>
              <a:buFont typeface="Arial"/>
              <a:buChar char="•"/>
            </a:pPr>
            <a:r>
              <a:rPr lang="en-US" sz="1713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Model name &amp; version</a:t>
            </a:r>
          </a:p>
          <a:p>
            <a:pPr algn="l">
              <a:lnSpc>
                <a:spcPts val="2399"/>
              </a:lnSpc>
            </a:pPr>
            <a:endParaRPr lang="en-US" sz="1713">
              <a:solidFill>
                <a:srgbClr val="00000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pic>
        <p:nvPicPr>
          <p:cNvPr id="41" name="Picture 40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154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2926080" cy="128016"/>
          </a:xfrm>
          <a:prstGeom prst="rect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2488741" y="1630854"/>
            <a:ext cx="2472275" cy="741426"/>
            <a:chOff x="0" y="0"/>
            <a:chExt cx="508699" cy="1525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STREAMLIT UI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3251001" y="3060832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5" y="0"/>
                </a:lnTo>
                <a:lnTo>
                  <a:pt x="947755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433373" y="3757787"/>
            <a:ext cx="2472275" cy="741426"/>
            <a:chOff x="0" y="0"/>
            <a:chExt cx="508699" cy="1525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HTTP Request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3195633" y="4926130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5" y="0"/>
                </a:lnTo>
                <a:lnTo>
                  <a:pt x="947755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247902" y="5532692"/>
            <a:ext cx="3108589" cy="741426"/>
            <a:chOff x="0" y="0"/>
            <a:chExt cx="639627" cy="1525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9627" cy="152557"/>
            </a:xfrm>
            <a:custGeom>
              <a:avLst/>
              <a:gdLst/>
              <a:ahLst/>
              <a:cxnLst/>
              <a:rect l="l" t="t" r="r" b="b"/>
              <a:pathLst>
                <a:path w="639627" h="152557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103914"/>
                  </a:lnTo>
                  <a:cubicBezTo>
                    <a:pt x="639627" y="130779"/>
                    <a:pt x="617849" y="152557"/>
                    <a:pt x="590985" y="152557"/>
                  </a:cubicBezTo>
                  <a:lnTo>
                    <a:pt x="48642" y="152557"/>
                  </a:lnTo>
                  <a:cubicBezTo>
                    <a:pt x="35742" y="152557"/>
                    <a:pt x="23369" y="147432"/>
                    <a:pt x="14247" y="138310"/>
                  </a:cubicBezTo>
                  <a:cubicBezTo>
                    <a:pt x="5125" y="129188"/>
                    <a:pt x="0" y="116815"/>
                    <a:pt x="0" y="103914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639627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 FASTAPI BACKEND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91993" y="6244453"/>
            <a:ext cx="2264498" cy="960893"/>
            <a:chOff x="0" y="0"/>
            <a:chExt cx="524436" cy="2225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4436" cy="222533"/>
            </a:xfrm>
            <a:custGeom>
              <a:avLst/>
              <a:gdLst/>
              <a:ahLst/>
              <a:cxnLst/>
              <a:rect l="l" t="t" r="r" b="b"/>
              <a:pathLst>
                <a:path w="524436" h="222533">
                  <a:moveTo>
                    <a:pt x="66774" y="0"/>
                  </a:moveTo>
                  <a:lnTo>
                    <a:pt x="457662" y="0"/>
                  </a:lnTo>
                  <a:cubicBezTo>
                    <a:pt x="494540" y="0"/>
                    <a:pt x="524436" y="29896"/>
                    <a:pt x="524436" y="66774"/>
                  </a:cubicBezTo>
                  <a:lnTo>
                    <a:pt x="524436" y="155760"/>
                  </a:lnTo>
                  <a:cubicBezTo>
                    <a:pt x="524436" y="192638"/>
                    <a:pt x="494540" y="222533"/>
                    <a:pt x="457662" y="222533"/>
                  </a:cubicBezTo>
                  <a:lnTo>
                    <a:pt x="66774" y="222533"/>
                  </a:lnTo>
                  <a:cubicBezTo>
                    <a:pt x="29896" y="222533"/>
                    <a:pt x="0" y="192638"/>
                    <a:pt x="0" y="155760"/>
                  </a:cubicBezTo>
                  <a:lnTo>
                    <a:pt x="0" y="66774"/>
                  </a:lnTo>
                  <a:cubicBezTo>
                    <a:pt x="0" y="29896"/>
                    <a:pt x="29896" y="0"/>
                    <a:pt x="66774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524436" cy="251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/api/predict</a:t>
              </a:r>
            </a:p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/api/queue</a:t>
              </a:r>
            </a:p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/api/model-info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6301860" y="8626374"/>
            <a:ext cx="904572" cy="253280"/>
          </a:xfrm>
          <a:custGeom>
            <a:avLst/>
            <a:gdLst/>
            <a:ahLst/>
            <a:cxnLst/>
            <a:rect l="l" t="t" r="r" b="b"/>
            <a:pathLst>
              <a:path w="904572" h="253280">
                <a:moveTo>
                  <a:pt x="0" y="0"/>
                </a:moveTo>
                <a:lnTo>
                  <a:pt x="904572" y="0"/>
                </a:lnTo>
                <a:lnTo>
                  <a:pt x="904572" y="253280"/>
                </a:lnTo>
                <a:lnTo>
                  <a:pt x="0" y="253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3508069">
            <a:off x="3529760" y="7586957"/>
            <a:ext cx="1108652" cy="310423"/>
          </a:xfrm>
          <a:custGeom>
            <a:avLst/>
            <a:gdLst/>
            <a:ahLst/>
            <a:cxnLst/>
            <a:rect l="l" t="t" r="r" b="b"/>
            <a:pathLst>
              <a:path w="1108652" h="310423">
                <a:moveTo>
                  <a:pt x="0" y="0"/>
                </a:moveTo>
                <a:lnTo>
                  <a:pt x="1108652" y="0"/>
                </a:lnTo>
                <a:lnTo>
                  <a:pt x="1108652" y="310422"/>
                </a:lnTo>
                <a:lnTo>
                  <a:pt x="0" y="31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3091993" y="8275277"/>
            <a:ext cx="3108589" cy="955474"/>
            <a:chOff x="0" y="0"/>
            <a:chExt cx="639627" cy="196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9627" cy="196600"/>
            </a:xfrm>
            <a:custGeom>
              <a:avLst/>
              <a:gdLst/>
              <a:ahLst/>
              <a:cxnLst/>
              <a:rect l="l" t="t" r="r" b="b"/>
              <a:pathLst>
                <a:path w="639627" h="196600">
                  <a:moveTo>
                    <a:pt x="48642" y="0"/>
                  </a:moveTo>
                  <a:lnTo>
                    <a:pt x="590985" y="0"/>
                  </a:lnTo>
                  <a:cubicBezTo>
                    <a:pt x="617849" y="0"/>
                    <a:pt x="639627" y="21778"/>
                    <a:pt x="639627" y="48642"/>
                  </a:cubicBezTo>
                  <a:lnTo>
                    <a:pt x="639627" y="147957"/>
                  </a:lnTo>
                  <a:cubicBezTo>
                    <a:pt x="639627" y="160858"/>
                    <a:pt x="634503" y="173230"/>
                    <a:pt x="625380" y="182353"/>
                  </a:cubicBezTo>
                  <a:cubicBezTo>
                    <a:pt x="616258" y="191475"/>
                    <a:pt x="603886" y="196600"/>
                    <a:pt x="590985" y="196600"/>
                  </a:cubicBezTo>
                  <a:lnTo>
                    <a:pt x="48642" y="196600"/>
                  </a:lnTo>
                  <a:cubicBezTo>
                    <a:pt x="21778" y="196600"/>
                    <a:pt x="0" y="174822"/>
                    <a:pt x="0" y="147957"/>
                  </a:cubicBezTo>
                  <a:lnTo>
                    <a:pt x="0" y="48642"/>
                  </a:lnTo>
                  <a:cubicBezTo>
                    <a:pt x="0" y="21778"/>
                    <a:pt x="21778" y="0"/>
                    <a:pt x="4864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39627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INFERENCE PIPELINE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07710" y="8302826"/>
            <a:ext cx="2472275" cy="955474"/>
            <a:chOff x="0" y="0"/>
            <a:chExt cx="508699" cy="196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08699" cy="196600"/>
            </a:xfrm>
            <a:custGeom>
              <a:avLst/>
              <a:gdLst/>
              <a:ahLst/>
              <a:cxnLst/>
              <a:rect l="l" t="t" r="r" b="b"/>
              <a:pathLst>
                <a:path w="508699" h="196600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135438"/>
                  </a:lnTo>
                  <a:cubicBezTo>
                    <a:pt x="508699" y="169216"/>
                    <a:pt x="481315" y="196600"/>
                    <a:pt x="447537" y="196600"/>
                  </a:cubicBezTo>
                  <a:lnTo>
                    <a:pt x="61162" y="196600"/>
                  </a:lnTo>
                  <a:cubicBezTo>
                    <a:pt x="27383" y="196600"/>
                    <a:pt x="0" y="169216"/>
                    <a:pt x="0" y="135438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508699" cy="24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Preprocessing + ML Models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9779985" y="8614283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5" y="0"/>
                </a:lnTo>
                <a:lnTo>
                  <a:pt x="947755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0927765" y="8302826"/>
            <a:ext cx="2472275" cy="741426"/>
            <a:chOff x="0" y="0"/>
            <a:chExt cx="508699" cy="1525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Prediction Result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3400040" y="8487643"/>
            <a:ext cx="947754" cy="265371"/>
          </a:xfrm>
          <a:custGeom>
            <a:avLst/>
            <a:gdLst/>
            <a:ahLst/>
            <a:cxnLst/>
            <a:rect l="l" t="t" r="r" b="b"/>
            <a:pathLst>
              <a:path w="947754" h="265371">
                <a:moveTo>
                  <a:pt x="0" y="0"/>
                </a:moveTo>
                <a:lnTo>
                  <a:pt x="947754" y="0"/>
                </a:lnTo>
                <a:lnTo>
                  <a:pt x="947754" y="265371"/>
                </a:lnTo>
                <a:lnTo>
                  <a:pt x="0" y="265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53092" y="1584904"/>
            <a:ext cx="783327" cy="833326"/>
          </a:xfrm>
          <a:custGeom>
            <a:avLst/>
            <a:gdLst/>
            <a:ahLst/>
            <a:cxnLst/>
            <a:rect l="l" t="t" r="r" b="b"/>
            <a:pathLst>
              <a:path w="783327" h="833326">
                <a:moveTo>
                  <a:pt x="0" y="0"/>
                </a:moveTo>
                <a:lnTo>
                  <a:pt x="783327" y="0"/>
                </a:lnTo>
                <a:lnTo>
                  <a:pt x="783327" y="833326"/>
                </a:lnTo>
                <a:lnTo>
                  <a:pt x="0" y="8333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3529903" y="396299"/>
            <a:ext cx="11228195" cy="58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A1F5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Application Architecture &amp; Deployment Flow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733082" y="2239803"/>
            <a:ext cx="1983594" cy="427493"/>
            <a:chOff x="0" y="0"/>
            <a:chExt cx="459381" cy="990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59381" cy="99003"/>
            </a:xfrm>
            <a:custGeom>
              <a:avLst/>
              <a:gdLst/>
              <a:ahLst/>
              <a:cxnLst/>
              <a:rect l="l" t="t" r="r" b="b"/>
              <a:pathLst>
                <a:path w="459381" h="99003">
                  <a:moveTo>
                    <a:pt x="49502" y="0"/>
                  </a:moveTo>
                  <a:lnTo>
                    <a:pt x="409880" y="0"/>
                  </a:lnTo>
                  <a:cubicBezTo>
                    <a:pt x="437219" y="0"/>
                    <a:pt x="459381" y="22163"/>
                    <a:pt x="459381" y="49502"/>
                  </a:cubicBezTo>
                  <a:lnTo>
                    <a:pt x="459381" y="49502"/>
                  </a:lnTo>
                  <a:cubicBezTo>
                    <a:pt x="459381" y="62630"/>
                    <a:pt x="454166" y="75221"/>
                    <a:pt x="444883" y="84504"/>
                  </a:cubicBezTo>
                  <a:cubicBezTo>
                    <a:pt x="435599" y="93788"/>
                    <a:pt x="423008" y="99003"/>
                    <a:pt x="409880" y="99003"/>
                  </a:cubicBezTo>
                  <a:lnTo>
                    <a:pt x="49502" y="99003"/>
                  </a:lnTo>
                  <a:cubicBezTo>
                    <a:pt x="22163" y="99003"/>
                    <a:pt x="0" y="76841"/>
                    <a:pt x="0" y="49502"/>
                  </a:cubicBezTo>
                  <a:lnTo>
                    <a:pt x="0" y="49502"/>
                  </a:lnTo>
                  <a:cubicBezTo>
                    <a:pt x="0" y="22163"/>
                    <a:pt x="22163" y="0"/>
                    <a:pt x="49502" y="0"/>
                  </a:cubicBezTo>
                  <a:close/>
                </a:path>
              </a:pathLst>
            </a:custGeom>
            <a:solidFill>
              <a:srgbClr val="1547C8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459381" cy="12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4"/>
                </a:lnSpc>
              </a:pPr>
              <a:r>
                <a:rPr lang="en-US" sz="1552">
                  <a:solidFill>
                    <a:srgbClr val="FFFFFF"/>
                  </a:solidFill>
                  <a:latin typeface="Monda"/>
                  <a:ea typeface="Monda"/>
                  <a:cs typeface="Monda"/>
                  <a:sym typeface="Monda"/>
                </a:rPr>
                <a:t> ui/api_client.py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547819" y="8243570"/>
            <a:ext cx="2472275" cy="741426"/>
            <a:chOff x="0" y="0"/>
            <a:chExt cx="508699" cy="15255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08699" cy="152557"/>
            </a:xfrm>
            <a:custGeom>
              <a:avLst/>
              <a:gdLst/>
              <a:ahLst/>
              <a:cxnLst/>
              <a:rect l="l" t="t" r="r" b="b"/>
              <a:pathLst>
                <a:path w="508699" h="152557">
                  <a:moveTo>
                    <a:pt x="61162" y="0"/>
                  </a:moveTo>
                  <a:lnTo>
                    <a:pt x="447537" y="0"/>
                  </a:lnTo>
                  <a:cubicBezTo>
                    <a:pt x="481315" y="0"/>
                    <a:pt x="508699" y="27383"/>
                    <a:pt x="508699" y="61162"/>
                  </a:cubicBezTo>
                  <a:lnTo>
                    <a:pt x="508699" y="91395"/>
                  </a:lnTo>
                  <a:cubicBezTo>
                    <a:pt x="508699" y="125174"/>
                    <a:pt x="481315" y="152557"/>
                    <a:pt x="447537" y="152557"/>
                  </a:cubicBezTo>
                  <a:lnTo>
                    <a:pt x="61162" y="152557"/>
                  </a:lnTo>
                  <a:cubicBezTo>
                    <a:pt x="27383" y="152557"/>
                    <a:pt x="0" y="125174"/>
                    <a:pt x="0" y="91395"/>
                  </a:cubicBezTo>
                  <a:lnTo>
                    <a:pt x="0" y="61162"/>
                  </a:lnTo>
                  <a:cubicBezTo>
                    <a:pt x="0" y="27383"/>
                    <a:pt x="27383" y="0"/>
                    <a:pt x="61162" y="0"/>
                  </a:cubicBezTo>
                  <a:close/>
                </a:path>
              </a:pathLst>
            </a:custGeom>
            <a:solidFill>
              <a:srgbClr val="BBD0F7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508699" cy="20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4"/>
                </a:lnSpc>
              </a:pPr>
              <a:r>
                <a:rPr lang="en-US" sz="2152">
                  <a:solidFill>
                    <a:srgbClr val="000000"/>
                  </a:solidFill>
                  <a:latin typeface="Monda"/>
                  <a:ea typeface="Monda"/>
                  <a:cs typeface="Monda"/>
                  <a:sym typeface="Monda"/>
                </a:rPr>
                <a:t>STREAMLIT UI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436419" y="1874927"/>
            <a:ext cx="904572" cy="253280"/>
          </a:xfrm>
          <a:custGeom>
            <a:avLst/>
            <a:gdLst/>
            <a:ahLst/>
            <a:cxnLst/>
            <a:rect l="l" t="t" r="r" b="b"/>
            <a:pathLst>
              <a:path w="904572" h="253280">
                <a:moveTo>
                  <a:pt x="0" y="0"/>
                </a:moveTo>
                <a:lnTo>
                  <a:pt x="904572" y="0"/>
                </a:lnTo>
                <a:lnTo>
                  <a:pt x="904572" y="253280"/>
                </a:lnTo>
                <a:lnTo>
                  <a:pt x="0" y="253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7461516" y="2148399"/>
            <a:ext cx="8991304" cy="519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  <a:spcBef>
                <a:spcPct val="0"/>
              </a:spcBef>
            </a:pPr>
            <a:r>
              <a:rPr lang="en-US" sz="2452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Main FastAPI Routes</a:t>
            </a:r>
          </a:p>
          <a:p>
            <a:pPr algn="l">
              <a:lnSpc>
                <a:spcPts val="3014"/>
              </a:lnSpc>
              <a:spcBef>
                <a:spcPct val="0"/>
              </a:spcBef>
            </a:pPr>
            <a:endParaRPr lang="en-US" sz="2452" b="1">
              <a:solidFill>
                <a:srgbClr val="000000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marL="486415" lvl="1" indent="-243207" algn="l">
              <a:lnSpc>
                <a:spcPts val="3154"/>
              </a:lnSpc>
              <a:spcBef>
                <a:spcPct val="0"/>
              </a:spcBef>
              <a:buFont typeface="Arial"/>
              <a:buChar char="•"/>
            </a:pPr>
            <a:r>
              <a:rPr lang="en-US" sz="22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POST /api/predict Analyze a clinical note and return priority, confidence, probabilities, vitals and preprocessing details</a:t>
            </a:r>
          </a:p>
          <a:p>
            <a:pPr marL="486415" lvl="1" indent="-243207" algn="l">
              <a:lnSpc>
                <a:spcPts val="3154"/>
              </a:lnSpc>
              <a:spcBef>
                <a:spcPct val="0"/>
              </a:spcBef>
              <a:buFont typeface="Arial"/>
              <a:buChar char="•"/>
            </a:pPr>
            <a:r>
              <a:rPr lang="en-US" sz="22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GET /api/queue Retrieve the intake queue with priority/arrival ordering and filtering</a:t>
            </a:r>
          </a:p>
          <a:p>
            <a:pPr marL="486415" lvl="1" indent="-243207" algn="l">
              <a:lnSpc>
                <a:spcPts val="3154"/>
              </a:lnSpc>
              <a:spcBef>
                <a:spcPct val="0"/>
              </a:spcBef>
              <a:buFont typeface="Arial"/>
              <a:buChar char="•"/>
            </a:pPr>
            <a:r>
              <a:rPr lang="en-US" sz="22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POST /api/queue Analyze a new note and add it to the active queue</a:t>
            </a:r>
          </a:p>
          <a:p>
            <a:pPr marL="486415" lvl="1" indent="-243207" algn="l">
              <a:lnSpc>
                <a:spcPts val="3154"/>
              </a:lnSpc>
              <a:spcBef>
                <a:spcPct val="0"/>
              </a:spcBef>
              <a:buFont typeface="Arial"/>
              <a:buChar char="•"/>
            </a:pPr>
            <a:r>
              <a:rPr lang="en-US" sz="22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GET /api/model-info Return model version, TF-IDF configuration and evaluation information</a:t>
            </a:r>
          </a:p>
          <a:p>
            <a:pPr marL="486415" lvl="1" indent="-243207" algn="l">
              <a:lnSpc>
                <a:spcPts val="3154"/>
              </a:lnSpc>
              <a:spcBef>
                <a:spcPct val="0"/>
              </a:spcBef>
              <a:buFont typeface="Arial"/>
              <a:buChar char="•"/>
            </a:pPr>
            <a:r>
              <a:rPr lang="en-US" sz="22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GET /api/health Check API, vectorizer and model loading status</a:t>
            </a:r>
          </a:p>
          <a:p>
            <a:pPr marL="486415" lvl="1" indent="-243207" algn="l">
              <a:lnSpc>
                <a:spcPts val="3154"/>
              </a:lnSpc>
              <a:spcBef>
                <a:spcPct val="0"/>
              </a:spcBef>
              <a:buFont typeface="Arial"/>
              <a:buChar char="•"/>
            </a:pPr>
            <a:r>
              <a:rPr lang="en-US" sz="2252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GET /docs FastAPI interactive API documentation</a:t>
            </a:r>
          </a:p>
        </p:txBody>
      </p:sp>
      <p:pic>
        <p:nvPicPr>
          <p:cNvPr id="43" name="Picture 42" descr="logo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65792"/>
            <a:ext cx="310896" cy="3108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0120" y="97657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547C8"/>
                </a:solidFill>
                <a:latin typeface="Arial"/>
              </a:rPr>
              <a:t>CitiusTech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976579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5B6478"/>
                </a:solidFill>
                <a:latin typeface="Arial"/>
              </a:rPr>
              <a:t>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229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8229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CitiusTech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749807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CFE0FF"/>
                </a:solidFill>
                <a:latin typeface="Arial"/>
              </a:rPr>
              <a:t>The system reads a nurse intake note and classifies it as High, Medium or Low priority, helping urgent cases move up the queue while the final decision remains with the healthcare professional.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92240"/>
            <a:ext cx="749807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DB8F0"/>
                </a:solidFill>
                <a:latin typeface="Arial"/>
              </a:rPr>
              <a:t>The TF-IDF + Vitals Logistic Regression model achieved 95.71% accuracy and 97.73% High-class recall on the held-out synthetic test 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920240"/>
            <a:ext cx="7955279" cy="150876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7FA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0" y="2359152"/>
            <a:ext cx="640080" cy="640080"/>
          </a:xfrm>
          <a:prstGeom prst="ellipse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0" y="235915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A1F5C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221284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Smarter triage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2724912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FE0FF"/>
                </a:solidFill>
                <a:latin typeface="Arial"/>
              </a:rPr>
              <a:t>High / Medium / Low priority with confidence and class probabilities.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657600"/>
            <a:ext cx="7955279" cy="150876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7FA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75520" y="4096512"/>
            <a:ext cx="640080" cy="640080"/>
          </a:xfrm>
          <a:prstGeom prst="ellipse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409651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A1F5C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395020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Built for messy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4462272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FE0FF"/>
                </a:solidFill>
                <a:latin typeface="Arial"/>
              </a:rPr>
              <a:t>8-step preprocessing handles abbreviations, fillers, typos and boilerplate.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5394960"/>
            <a:ext cx="7955279" cy="150876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7FA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75520" y="5833872"/>
            <a:ext cx="640080" cy="640080"/>
          </a:xfrm>
          <a:prstGeom prst="ellipse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0" y="583387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A1F5C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568756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Transparent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199632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FE0FF"/>
                </a:solidFill>
                <a:latin typeface="Arial"/>
              </a:rPr>
              <a:t>Preprocessing audit trail and saved models support traceability.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7132319"/>
            <a:ext cx="7955279" cy="150876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7FA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75520" y="7571231"/>
            <a:ext cx="640080" cy="640080"/>
          </a:xfrm>
          <a:prstGeom prst="ellipse">
            <a:avLst/>
          </a:prstGeom>
          <a:solidFill>
            <a:srgbClr val="3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0" y="7571231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A1F5C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7424927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Deployable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7936992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FE0FF"/>
                </a:solidFill>
                <a:latin typeface="Arial"/>
              </a:rPr>
              <a:t>FastAPI backend with a Streamlit UI for the intake queue.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46488" y="3962424"/>
            <a:ext cx="14595024" cy="212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  <p:pic>
        <p:nvPicPr>
          <p:cNvPr id="9" name="Picture 8" descr="log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360" y="7315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CitiusTech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2061</Words>
  <Application>Microsoft Office PowerPoint</Application>
  <PresentationFormat>Custom</PresentationFormat>
  <Paragraphs>370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Monda</vt:lpstr>
      <vt:lpstr>Monda Bold</vt:lpstr>
      <vt:lpstr>Arial</vt:lpstr>
      <vt:lpstr>Merriweather Sans Bold</vt:lpstr>
      <vt:lpstr>Merriweather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Professional Geometric Presentation</dc:title>
  <cp:lastModifiedBy>SUJIT RAUT</cp:lastModifiedBy>
  <cp:revision>2</cp:revision>
  <dcterms:created xsi:type="dcterms:W3CDTF">2006-08-16T00:00:00Z</dcterms:created>
  <dcterms:modified xsi:type="dcterms:W3CDTF">2026-10-01T03:45:38Z</dcterms:modified>
  <dc:identifier>DAHWfpER8e8</dc:identifier>
</cp:coreProperties>
</file>